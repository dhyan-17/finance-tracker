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-178" y="-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825" y="104775"/>
            <a:ext cx="752475" cy="8001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96350" y="104775"/>
            <a:ext cx="3171825" cy="61912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684047" y="2426842"/>
            <a:ext cx="5234940" cy="2312670"/>
          </a:xfrm>
          <a:custGeom>
            <a:avLst/>
            <a:gdLst/>
            <a:ahLst/>
            <a:cxnLst/>
            <a:rect l="l" t="t" r="r" b="b"/>
            <a:pathLst>
              <a:path w="5234940" h="2312670">
                <a:moveTo>
                  <a:pt x="5234940" y="0"/>
                </a:moveTo>
                <a:lnTo>
                  <a:pt x="0" y="0"/>
                </a:lnTo>
                <a:lnTo>
                  <a:pt x="0" y="2312288"/>
                </a:lnTo>
                <a:lnTo>
                  <a:pt x="5234940" y="2312288"/>
                </a:lnTo>
                <a:lnTo>
                  <a:pt x="5234940" y="0"/>
                </a:lnTo>
                <a:close/>
              </a:path>
            </a:pathLst>
          </a:custGeom>
          <a:solidFill>
            <a:srgbClr val="C9ED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677697" y="2420492"/>
            <a:ext cx="5247640" cy="2338070"/>
          </a:xfrm>
          <a:custGeom>
            <a:avLst/>
            <a:gdLst/>
            <a:ahLst/>
            <a:cxnLst/>
            <a:rect l="l" t="t" r="r" b="b"/>
            <a:pathLst>
              <a:path w="5247640" h="2338070">
                <a:moveTo>
                  <a:pt x="6350" y="0"/>
                </a:moveTo>
                <a:lnTo>
                  <a:pt x="6350" y="2337689"/>
                </a:lnTo>
              </a:path>
              <a:path w="5247640" h="2338070">
                <a:moveTo>
                  <a:pt x="5241264" y="0"/>
                </a:moveTo>
                <a:lnTo>
                  <a:pt x="5241264" y="2337689"/>
                </a:lnTo>
              </a:path>
              <a:path w="5247640" h="2338070">
                <a:moveTo>
                  <a:pt x="0" y="6350"/>
                </a:moveTo>
                <a:lnTo>
                  <a:pt x="5247614" y="635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677697" y="4739132"/>
            <a:ext cx="5247640" cy="0"/>
          </a:xfrm>
          <a:custGeom>
            <a:avLst/>
            <a:gdLst/>
            <a:ahLst/>
            <a:cxnLst/>
            <a:rect l="l" t="t" r="r" b="b"/>
            <a:pathLst>
              <a:path w="5247640">
                <a:moveTo>
                  <a:pt x="0" y="0"/>
                </a:moveTo>
                <a:lnTo>
                  <a:pt x="5247614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3825" y="104775"/>
            <a:ext cx="752475" cy="8001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896350" y="104775"/>
            <a:ext cx="3171825" cy="6191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95547" y="906780"/>
            <a:ext cx="5200904" cy="9842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00960" y="2084387"/>
            <a:ext cx="7934959" cy="3047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83102" y="1284224"/>
            <a:ext cx="5226050" cy="762635"/>
            <a:chOff x="3483102" y="1284224"/>
            <a:chExt cx="5226050" cy="762635"/>
          </a:xfrm>
        </p:grpSpPr>
        <p:sp>
          <p:nvSpPr>
            <p:cNvPr id="3" name="object 3"/>
            <p:cNvSpPr/>
            <p:nvPr/>
          </p:nvSpPr>
          <p:spPr>
            <a:xfrm>
              <a:off x="3489452" y="1290561"/>
              <a:ext cx="5213350" cy="737235"/>
            </a:xfrm>
            <a:custGeom>
              <a:avLst/>
              <a:gdLst/>
              <a:ahLst/>
              <a:cxnLst/>
              <a:rect l="l" t="t" r="r" b="b"/>
              <a:pathLst>
                <a:path w="5213350" h="737235">
                  <a:moveTo>
                    <a:pt x="5212969" y="0"/>
                  </a:moveTo>
                  <a:lnTo>
                    <a:pt x="0" y="0"/>
                  </a:lnTo>
                  <a:lnTo>
                    <a:pt x="0" y="736993"/>
                  </a:lnTo>
                  <a:lnTo>
                    <a:pt x="5212969" y="736993"/>
                  </a:lnTo>
                  <a:lnTo>
                    <a:pt x="5212969" y="0"/>
                  </a:lnTo>
                  <a:close/>
                </a:path>
              </a:pathLst>
            </a:custGeom>
            <a:solidFill>
              <a:srgbClr val="C9ED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483102" y="1284224"/>
              <a:ext cx="5226050" cy="762635"/>
            </a:xfrm>
            <a:custGeom>
              <a:avLst/>
              <a:gdLst/>
              <a:ahLst/>
              <a:cxnLst/>
              <a:rect l="l" t="t" r="r" b="b"/>
              <a:pathLst>
                <a:path w="5226050" h="762635">
                  <a:moveTo>
                    <a:pt x="6350" y="0"/>
                  </a:moveTo>
                  <a:lnTo>
                    <a:pt x="6350" y="762380"/>
                  </a:lnTo>
                </a:path>
                <a:path w="5226050" h="762635">
                  <a:moveTo>
                    <a:pt x="5219446" y="0"/>
                  </a:moveTo>
                  <a:lnTo>
                    <a:pt x="5219446" y="762380"/>
                  </a:lnTo>
                </a:path>
                <a:path w="5226050" h="762635">
                  <a:moveTo>
                    <a:pt x="0" y="6350"/>
                  </a:moveTo>
                  <a:lnTo>
                    <a:pt x="5225796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83102" y="2027555"/>
              <a:ext cx="5226050" cy="0"/>
            </a:xfrm>
            <a:custGeom>
              <a:avLst/>
              <a:gdLst/>
              <a:ahLst/>
              <a:cxnLst/>
              <a:rect l="l" t="t" r="r" b="b"/>
              <a:pathLst>
                <a:path w="5226050">
                  <a:moveTo>
                    <a:pt x="0" y="0"/>
                  </a:moveTo>
                  <a:lnTo>
                    <a:pt x="5225796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2274" rIns="0" bIns="0" rtlCol="0">
            <a:spAutoFit/>
          </a:bodyPr>
          <a:lstStyle/>
          <a:p>
            <a:pPr marL="6985" algn="ctr">
              <a:lnSpc>
                <a:spcPct val="100000"/>
              </a:lnSpc>
              <a:spcBef>
                <a:spcPts val="105"/>
              </a:spcBef>
            </a:pPr>
            <a:r>
              <a:rPr spc="-10" dirty="0" smtClean="0"/>
              <a:t>Finance</a:t>
            </a:r>
            <a:r>
              <a:rPr lang="en-US" spc="-10" dirty="0" smtClean="0"/>
              <a:t> </a:t>
            </a:r>
            <a:r>
              <a:rPr spc="-10" dirty="0" smtClean="0"/>
              <a:t>Tracker</a:t>
            </a:r>
            <a:endParaRPr spc="-10" dirty="0"/>
          </a:p>
        </p:txBody>
      </p:sp>
      <p:grpSp>
        <p:nvGrpSpPr>
          <p:cNvPr id="7" name="object 7"/>
          <p:cNvGrpSpPr/>
          <p:nvPr/>
        </p:nvGrpSpPr>
        <p:grpSpPr>
          <a:xfrm>
            <a:off x="1293494" y="2954782"/>
            <a:ext cx="4392295" cy="1214120"/>
            <a:chOff x="1293494" y="2954782"/>
            <a:chExt cx="4392295" cy="1214120"/>
          </a:xfrm>
        </p:grpSpPr>
        <p:sp>
          <p:nvSpPr>
            <p:cNvPr id="8" name="object 8"/>
            <p:cNvSpPr/>
            <p:nvPr/>
          </p:nvSpPr>
          <p:spPr>
            <a:xfrm>
              <a:off x="1299844" y="2961132"/>
              <a:ext cx="4379595" cy="1188720"/>
            </a:xfrm>
            <a:custGeom>
              <a:avLst/>
              <a:gdLst/>
              <a:ahLst/>
              <a:cxnLst/>
              <a:rect l="l" t="t" r="r" b="b"/>
              <a:pathLst>
                <a:path w="4379595" h="1188720">
                  <a:moveTo>
                    <a:pt x="4379467" y="0"/>
                  </a:moveTo>
                  <a:lnTo>
                    <a:pt x="0" y="0"/>
                  </a:lnTo>
                  <a:lnTo>
                    <a:pt x="0" y="1188720"/>
                  </a:lnTo>
                  <a:lnTo>
                    <a:pt x="4379467" y="1188720"/>
                  </a:lnTo>
                  <a:lnTo>
                    <a:pt x="4379467" y="0"/>
                  </a:lnTo>
                  <a:close/>
                </a:path>
              </a:pathLst>
            </a:custGeom>
            <a:solidFill>
              <a:srgbClr val="C9ED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93494" y="2954782"/>
              <a:ext cx="4392295" cy="1214120"/>
            </a:xfrm>
            <a:custGeom>
              <a:avLst/>
              <a:gdLst/>
              <a:ahLst/>
              <a:cxnLst/>
              <a:rect l="l" t="t" r="r" b="b"/>
              <a:pathLst>
                <a:path w="4392295" h="1214120">
                  <a:moveTo>
                    <a:pt x="6350" y="0"/>
                  </a:moveTo>
                  <a:lnTo>
                    <a:pt x="6350" y="1214119"/>
                  </a:lnTo>
                </a:path>
                <a:path w="4392295" h="1214120">
                  <a:moveTo>
                    <a:pt x="4385691" y="0"/>
                  </a:moveTo>
                  <a:lnTo>
                    <a:pt x="4385691" y="1214119"/>
                  </a:lnTo>
                </a:path>
                <a:path w="4392295" h="1214120">
                  <a:moveTo>
                    <a:pt x="0" y="6350"/>
                  </a:moveTo>
                  <a:lnTo>
                    <a:pt x="4392041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93494" y="4149852"/>
              <a:ext cx="4392295" cy="0"/>
            </a:xfrm>
            <a:custGeom>
              <a:avLst/>
              <a:gdLst/>
              <a:ahLst/>
              <a:cxnLst/>
              <a:rect l="l" t="t" r="r" b="b"/>
              <a:pathLst>
                <a:path w="4392295">
                  <a:moveTo>
                    <a:pt x="0" y="0"/>
                  </a:moveTo>
                  <a:lnTo>
                    <a:pt x="4392041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306194" y="2988627"/>
            <a:ext cx="4366895" cy="113030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85725" marR="1629410">
              <a:lnSpc>
                <a:spcPct val="100899"/>
              </a:lnSpc>
              <a:spcBef>
                <a:spcPts val="80"/>
              </a:spcBef>
            </a:pPr>
            <a:r>
              <a:rPr sz="1800" dirty="0">
                <a:latin typeface="Times New Roman"/>
                <a:cs typeface="Times New Roman"/>
              </a:rPr>
              <a:t>Student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Name: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Raj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Dudhat </a:t>
            </a:r>
            <a:r>
              <a:rPr sz="1800" dirty="0">
                <a:latin typeface="Times New Roman"/>
                <a:cs typeface="Times New Roman"/>
              </a:rPr>
              <a:t>Roll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no:97</a:t>
            </a:r>
            <a:endParaRPr sz="1800">
              <a:latin typeface="Times New Roman"/>
              <a:cs typeface="Times New Roman"/>
            </a:endParaRPr>
          </a:p>
          <a:p>
            <a:pPr marL="85725" marR="1195070">
              <a:lnSpc>
                <a:spcPct val="100800"/>
              </a:lnSpc>
            </a:pPr>
            <a:r>
              <a:rPr sz="1800" dirty="0">
                <a:latin typeface="Times New Roman"/>
                <a:cs typeface="Times New Roman"/>
              </a:rPr>
              <a:t>Enrollment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No: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24002170110038 Batch: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A3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Branch: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CE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506464" y="2954782"/>
            <a:ext cx="4392295" cy="1214120"/>
            <a:chOff x="6506464" y="2954782"/>
            <a:chExt cx="4392295" cy="1214120"/>
          </a:xfrm>
        </p:grpSpPr>
        <p:sp>
          <p:nvSpPr>
            <p:cNvPr id="13" name="object 13"/>
            <p:cNvSpPr/>
            <p:nvPr/>
          </p:nvSpPr>
          <p:spPr>
            <a:xfrm>
              <a:off x="6512814" y="2961132"/>
              <a:ext cx="4379595" cy="1188720"/>
            </a:xfrm>
            <a:custGeom>
              <a:avLst/>
              <a:gdLst/>
              <a:ahLst/>
              <a:cxnLst/>
              <a:rect l="l" t="t" r="r" b="b"/>
              <a:pathLst>
                <a:path w="4379595" h="1188720">
                  <a:moveTo>
                    <a:pt x="4379468" y="0"/>
                  </a:moveTo>
                  <a:lnTo>
                    <a:pt x="0" y="0"/>
                  </a:lnTo>
                  <a:lnTo>
                    <a:pt x="0" y="1188720"/>
                  </a:lnTo>
                  <a:lnTo>
                    <a:pt x="4379468" y="1188720"/>
                  </a:lnTo>
                  <a:lnTo>
                    <a:pt x="4379468" y="0"/>
                  </a:lnTo>
                  <a:close/>
                </a:path>
              </a:pathLst>
            </a:custGeom>
            <a:solidFill>
              <a:srgbClr val="C9ED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506464" y="2954782"/>
              <a:ext cx="4392295" cy="1214120"/>
            </a:xfrm>
            <a:custGeom>
              <a:avLst/>
              <a:gdLst/>
              <a:ahLst/>
              <a:cxnLst/>
              <a:rect l="l" t="t" r="r" b="b"/>
              <a:pathLst>
                <a:path w="4392295" h="1214120">
                  <a:moveTo>
                    <a:pt x="6350" y="0"/>
                  </a:moveTo>
                  <a:lnTo>
                    <a:pt x="6350" y="1214119"/>
                  </a:lnTo>
                </a:path>
                <a:path w="4392295" h="1214120">
                  <a:moveTo>
                    <a:pt x="4385690" y="0"/>
                  </a:moveTo>
                  <a:lnTo>
                    <a:pt x="4385690" y="1214119"/>
                  </a:lnTo>
                </a:path>
                <a:path w="4392295" h="1214120">
                  <a:moveTo>
                    <a:pt x="0" y="6350"/>
                  </a:moveTo>
                  <a:lnTo>
                    <a:pt x="4392040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506464" y="4149852"/>
              <a:ext cx="4392295" cy="0"/>
            </a:xfrm>
            <a:custGeom>
              <a:avLst/>
              <a:gdLst/>
              <a:ahLst/>
              <a:cxnLst/>
              <a:rect l="l" t="t" r="r" b="b"/>
              <a:pathLst>
                <a:path w="4392295">
                  <a:moveTo>
                    <a:pt x="0" y="0"/>
                  </a:moveTo>
                  <a:lnTo>
                    <a:pt x="4392040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519164" y="2988627"/>
            <a:ext cx="4366895" cy="113030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89535" marR="1075690">
              <a:lnSpc>
                <a:spcPct val="100899"/>
              </a:lnSpc>
              <a:spcBef>
                <a:spcPts val="80"/>
              </a:spcBef>
            </a:pPr>
            <a:r>
              <a:rPr sz="1800" dirty="0">
                <a:latin typeface="Times New Roman"/>
                <a:cs typeface="Times New Roman"/>
              </a:rPr>
              <a:t>Student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Name: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Yash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Mungalpara </a:t>
            </a:r>
            <a:r>
              <a:rPr sz="1800" dirty="0">
                <a:latin typeface="Times New Roman"/>
                <a:cs typeface="Times New Roman"/>
              </a:rPr>
              <a:t>Roll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no: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98</a:t>
            </a:r>
            <a:endParaRPr sz="1800">
              <a:latin typeface="Times New Roman"/>
              <a:cs typeface="Times New Roman"/>
            </a:endParaRPr>
          </a:p>
          <a:p>
            <a:pPr marL="89535" marR="1191895">
              <a:lnSpc>
                <a:spcPct val="100800"/>
              </a:lnSpc>
            </a:pPr>
            <a:r>
              <a:rPr sz="1800" dirty="0">
                <a:latin typeface="Times New Roman"/>
                <a:cs typeface="Times New Roman"/>
              </a:rPr>
              <a:t>Enrollment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No: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24002170110095 Batch: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A3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Branch: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CE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899915" y="4729353"/>
            <a:ext cx="4392295" cy="1214120"/>
            <a:chOff x="3899915" y="4729353"/>
            <a:chExt cx="4392295" cy="1214120"/>
          </a:xfrm>
        </p:grpSpPr>
        <p:sp>
          <p:nvSpPr>
            <p:cNvPr id="18" name="object 18"/>
            <p:cNvSpPr/>
            <p:nvPr/>
          </p:nvSpPr>
          <p:spPr>
            <a:xfrm>
              <a:off x="3906265" y="4735703"/>
              <a:ext cx="4379595" cy="1188720"/>
            </a:xfrm>
            <a:custGeom>
              <a:avLst/>
              <a:gdLst/>
              <a:ahLst/>
              <a:cxnLst/>
              <a:rect l="l" t="t" r="r" b="b"/>
              <a:pathLst>
                <a:path w="4379595" h="1188720">
                  <a:moveTo>
                    <a:pt x="4379468" y="0"/>
                  </a:moveTo>
                  <a:lnTo>
                    <a:pt x="0" y="0"/>
                  </a:lnTo>
                  <a:lnTo>
                    <a:pt x="0" y="1188720"/>
                  </a:lnTo>
                  <a:lnTo>
                    <a:pt x="4379468" y="1188720"/>
                  </a:lnTo>
                  <a:lnTo>
                    <a:pt x="4379468" y="0"/>
                  </a:lnTo>
                  <a:close/>
                </a:path>
              </a:pathLst>
            </a:custGeom>
            <a:solidFill>
              <a:srgbClr val="C9ED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99915" y="4729353"/>
              <a:ext cx="4392295" cy="1214120"/>
            </a:xfrm>
            <a:custGeom>
              <a:avLst/>
              <a:gdLst/>
              <a:ahLst/>
              <a:cxnLst/>
              <a:rect l="l" t="t" r="r" b="b"/>
              <a:pathLst>
                <a:path w="4392295" h="1214120">
                  <a:moveTo>
                    <a:pt x="6350" y="0"/>
                  </a:moveTo>
                  <a:lnTo>
                    <a:pt x="6350" y="1214120"/>
                  </a:lnTo>
                </a:path>
                <a:path w="4392295" h="1214120">
                  <a:moveTo>
                    <a:pt x="4385818" y="0"/>
                  </a:moveTo>
                  <a:lnTo>
                    <a:pt x="4385818" y="1214120"/>
                  </a:lnTo>
                </a:path>
                <a:path w="4392295" h="1214120">
                  <a:moveTo>
                    <a:pt x="0" y="6350"/>
                  </a:moveTo>
                  <a:lnTo>
                    <a:pt x="4392168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99915" y="5924423"/>
              <a:ext cx="4392295" cy="0"/>
            </a:xfrm>
            <a:custGeom>
              <a:avLst/>
              <a:gdLst/>
              <a:ahLst/>
              <a:cxnLst/>
              <a:rect l="l" t="t" r="r" b="b"/>
              <a:pathLst>
                <a:path w="4392295">
                  <a:moveTo>
                    <a:pt x="0" y="0"/>
                  </a:moveTo>
                  <a:lnTo>
                    <a:pt x="4392168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912615" y="4765738"/>
            <a:ext cx="4366895" cy="113030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87630" marR="1553845">
              <a:lnSpc>
                <a:spcPct val="100899"/>
              </a:lnSpc>
              <a:spcBef>
                <a:spcPts val="80"/>
              </a:spcBef>
            </a:pPr>
            <a:r>
              <a:rPr sz="1800" dirty="0">
                <a:latin typeface="Times New Roman"/>
                <a:cs typeface="Times New Roman"/>
              </a:rPr>
              <a:t>Student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Name: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Dhyan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Patel </a:t>
            </a:r>
            <a:r>
              <a:rPr sz="1800" dirty="0">
                <a:latin typeface="Times New Roman"/>
                <a:cs typeface="Times New Roman"/>
              </a:rPr>
              <a:t>Roll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no:115</a:t>
            </a:r>
            <a:endParaRPr sz="1800">
              <a:latin typeface="Times New Roman"/>
              <a:cs typeface="Times New Roman"/>
            </a:endParaRPr>
          </a:p>
          <a:p>
            <a:pPr marL="87630" marR="1193800">
              <a:lnSpc>
                <a:spcPct val="100800"/>
              </a:lnSpc>
            </a:pPr>
            <a:r>
              <a:rPr sz="1800" dirty="0">
                <a:latin typeface="Times New Roman"/>
                <a:cs typeface="Times New Roman"/>
              </a:rPr>
              <a:t>Enrollment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No: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24002170110120 Batch: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A3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Branch: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CE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96485" y="894841"/>
            <a:ext cx="3399154" cy="762635"/>
            <a:chOff x="4396485" y="894841"/>
            <a:chExt cx="3399154" cy="762635"/>
          </a:xfrm>
        </p:grpSpPr>
        <p:sp>
          <p:nvSpPr>
            <p:cNvPr id="3" name="object 3"/>
            <p:cNvSpPr/>
            <p:nvPr/>
          </p:nvSpPr>
          <p:spPr>
            <a:xfrm>
              <a:off x="4402835" y="901179"/>
              <a:ext cx="3386454" cy="737235"/>
            </a:xfrm>
            <a:custGeom>
              <a:avLst/>
              <a:gdLst/>
              <a:ahLst/>
              <a:cxnLst/>
              <a:rect l="l" t="t" r="r" b="b"/>
              <a:pathLst>
                <a:path w="3386454" h="737235">
                  <a:moveTo>
                    <a:pt x="3386327" y="0"/>
                  </a:moveTo>
                  <a:lnTo>
                    <a:pt x="0" y="0"/>
                  </a:lnTo>
                  <a:lnTo>
                    <a:pt x="0" y="736993"/>
                  </a:lnTo>
                  <a:lnTo>
                    <a:pt x="3386327" y="736993"/>
                  </a:lnTo>
                  <a:lnTo>
                    <a:pt x="3386327" y="0"/>
                  </a:lnTo>
                  <a:close/>
                </a:path>
              </a:pathLst>
            </a:custGeom>
            <a:solidFill>
              <a:srgbClr val="C9ED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96485" y="894841"/>
              <a:ext cx="3399154" cy="762635"/>
            </a:xfrm>
            <a:custGeom>
              <a:avLst/>
              <a:gdLst/>
              <a:ahLst/>
              <a:cxnLst/>
              <a:rect l="l" t="t" r="r" b="b"/>
              <a:pathLst>
                <a:path w="3399154" h="762635">
                  <a:moveTo>
                    <a:pt x="6350" y="0"/>
                  </a:moveTo>
                  <a:lnTo>
                    <a:pt x="6350" y="762381"/>
                  </a:lnTo>
                </a:path>
                <a:path w="3399154" h="762635">
                  <a:moveTo>
                    <a:pt x="3392678" y="0"/>
                  </a:moveTo>
                  <a:lnTo>
                    <a:pt x="3392678" y="762381"/>
                  </a:lnTo>
                </a:path>
                <a:path w="3399154" h="762635">
                  <a:moveTo>
                    <a:pt x="0" y="6350"/>
                  </a:moveTo>
                  <a:lnTo>
                    <a:pt x="3399028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96485" y="1638172"/>
              <a:ext cx="3399154" cy="0"/>
            </a:xfrm>
            <a:custGeom>
              <a:avLst/>
              <a:gdLst/>
              <a:ahLst/>
              <a:cxnLst/>
              <a:rect l="l" t="t" r="r" b="b"/>
              <a:pathLst>
                <a:path w="3399154">
                  <a:moveTo>
                    <a:pt x="0" y="0"/>
                  </a:moveTo>
                  <a:lnTo>
                    <a:pt x="3399028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Introduction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2014220" y="2061082"/>
            <a:ext cx="8163559" cy="4004945"/>
            <a:chOff x="2014220" y="2061082"/>
            <a:chExt cx="8163559" cy="4004945"/>
          </a:xfrm>
        </p:grpSpPr>
        <p:sp>
          <p:nvSpPr>
            <p:cNvPr id="8" name="object 8"/>
            <p:cNvSpPr/>
            <p:nvPr/>
          </p:nvSpPr>
          <p:spPr>
            <a:xfrm>
              <a:off x="2020570" y="2067420"/>
              <a:ext cx="8151495" cy="3979545"/>
            </a:xfrm>
            <a:custGeom>
              <a:avLst/>
              <a:gdLst/>
              <a:ahLst/>
              <a:cxnLst/>
              <a:rect l="l" t="t" r="r" b="b"/>
              <a:pathLst>
                <a:path w="8151495" h="3979545">
                  <a:moveTo>
                    <a:pt x="8150986" y="0"/>
                  </a:moveTo>
                  <a:lnTo>
                    <a:pt x="0" y="0"/>
                  </a:lnTo>
                  <a:lnTo>
                    <a:pt x="0" y="3979417"/>
                  </a:lnTo>
                  <a:lnTo>
                    <a:pt x="8150986" y="3979417"/>
                  </a:lnTo>
                  <a:lnTo>
                    <a:pt x="8150986" y="0"/>
                  </a:lnTo>
                  <a:close/>
                </a:path>
              </a:pathLst>
            </a:custGeom>
            <a:solidFill>
              <a:srgbClr val="C9ED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014220" y="2061082"/>
              <a:ext cx="8163559" cy="4004945"/>
            </a:xfrm>
            <a:custGeom>
              <a:avLst/>
              <a:gdLst/>
              <a:ahLst/>
              <a:cxnLst/>
              <a:rect l="l" t="t" r="r" b="b"/>
              <a:pathLst>
                <a:path w="8163559" h="4004945">
                  <a:moveTo>
                    <a:pt x="6350" y="0"/>
                  </a:moveTo>
                  <a:lnTo>
                    <a:pt x="6350" y="4004805"/>
                  </a:lnTo>
                </a:path>
                <a:path w="8163559" h="4004945">
                  <a:moveTo>
                    <a:pt x="8157209" y="0"/>
                  </a:moveTo>
                  <a:lnTo>
                    <a:pt x="8157209" y="4004805"/>
                  </a:lnTo>
                </a:path>
                <a:path w="8163559" h="4004945">
                  <a:moveTo>
                    <a:pt x="0" y="6350"/>
                  </a:moveTo>
                  <a:lnTo>
                    <a:pt x="8163559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14220" y="6046838"/>
              <a:ext cx="8163559" cy="0"/>
            </a:xfrm>
            <a:custGeom>
              <a:avLst/>
              <a:gdLst/>
              <a:ahLst/>
              <a:cxnLst/>
              <a:rect l="l" t="t" r="r" b="b"/>
              <a:pathLst>
                <a:path w="8163559">
                  <a:moveTo>
                    <a:pt x="0" y="0"/>
                  </a:moveTo>
                  <a:lnTo>
                    <a:pt x="8163559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98450" marR="56515" indent="-286385">
              <a:lnSpc>
                <a:spcPct val="100800"/>
              </a:lnSpc>
              <a:spcBef>
                <a:spcPts val="85"/>
              </a:spcBef>
              <a:buFont typeface="Wingdings"/>
              <a:buChar char=""/>
              <a:tabLst>
                <a:tab pos="298450" algn="l"/>
              </a:tabLst>
            </a:pPr>
            <a:r>
              <a:rPr spc="-20" dirty="0"/>
              <a:t>Smart</a:t>
            </a:r>
            <a:r>
              <a:rPr spc="-110" dirty="0"/>
              <a:t> </a:t>
            </a:r>
            <a:r>
              <a:rPr spc="-35" dirty="0"/>
              <a:t>Finance</a:t>
            </a:r>
            <a:r>
              <a:rPr spc="-95" dirty="0"/>
              <a:t> Tracker</a:t>
            </a:r>
            <a:r>
              <a:rPr spc="-125" dirty="0"/>
              <a:t> </a:t>
            </a:r>
            <a:r>
              <a:rPr spc="-10" dirty="0"/>
              <a:t>is</a:t>
            </a:r>
            <a:r>
              <a:rPr spc="-100" dirty="0"/>
              <a:t> </a:t>
            </a:r>
            <a:r>
              <a:rPr dirty="0"/>
              <a:t>a</a:t>
            </a:r>
            <a:r>
              <a:rPr spc="-185" dirty="0"/>
              <a:t> </a:t>
            </a:r>
            <a:r>
              <a:rPr spc="-35" dirty="0"/>
              <a:t>Python</a:t>
            </a:r>
            <a:r>
              <a:rPr spc="-14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55" dirty="0"/>
              <a:t>Streamlit</a:t>
            </a:r>
            <a:r>
              <a:rPr spc="-130" dirty="0"/>
              <a:t> </a:t>
            </a:r>
            <a:r>
              <a:rPr dirty="0"/>
              <a:t>based</a:t>
            </a:r>
            <a:r>
              <a:rPr spc="-160" dirty="0"/>
              <a:t> </a:t>
            </a:r>
            <a:r>
              <a:rPr spc="-10" dirty="0"/>
              <a:t>personal</a:t>
            </a:r>
            <a:r>
              <a:rPr spc="-140" dirty="0"/>
              <a:t> </a:t>
            </a:r>
            <a:r>
              <a:rPr spc="-45" dirty="0"/>
              <a:t>finance</a:t>
            </a:r>
            <a:r>
              <a:rPr spc="-90" dirty="0"/>
              <a:t> </a:t>
            </a:r>
            <a:r>
              <a:rPr spc="-25" dirty="0"/>
              <a:t>web </a:t>
            </a:r>
            <a:r>
              <a:rPr spc="-40" dirty="0"/>
              <a:t>application</a:t>
            </a:r>
            <a:r>
              <a:rPr spc="-155" dirty="0"/>
              <a:t> </a:t>
            </a:r>
            <a:r>
              <a:rPr spc="-75" dirty="0"/>
              <a:t>that</a:t>
            </a:r>
            <a:r>
              <a:rPr spc="-110" dirty="0"/>
              <a:t> </a:t>
            </a:r>
            <a:r>
              <a:rPr spc="-10" dirty="0"/>
              <a:t>helps</a:t>
            </a:r>
            <a:r>
              <a:rPr spc="-105" dirty="0"/>
              <a:t> </a:t>
            </a:r>
            <a:r>
              <a:rPr dirty="0"/>
              <a:t>users</a:t>
            </a:r>
            <a:r>
              <a:rPr spc="-105" dirty="0"/>
              <a:t> </a:t>
            </a:r>
            <a:r>
              <a:rPr spc="-10" dirty="0"/>
              <a:t>manage</a:t>
            </a:r>
            <a:r>
              <a:rPr spc="-185" dirty="0"/>
              <a:t> </a:t>
            </a:r>
            <a:r>
              <a:rPr spc="-90" dirty="0"/>
              <a:t>their</a:t>
            </a:r>
            <a:r>
              <a:rPr spc="-135" dirty="0"/>
              <a:t> </a:t>
            </a:r>
            <a:r>
              <a:rPr spc="-10" dirty="0"/>
              <a:t>money</a:t>
            </a:r>
            <a:r>
              <a:rPr spc="-200" dirty="0"/>
              <a:t> </a:t>
            </a:r>
            <a:r>
              <a:rPr spc="-45" dirty="0"/>
              <a:t>in</a:t>
            </a:r>
            <a:r>
              <a:rPr spc="-150" dirty="0"/>
              <a:t> </a:t>
            </a:r>
            <a:r>
              <a:rPr dirty="0"/>
              <a:t>an</a:t>
            </a:r>
            <a:r>
              <a:rPr spc="-150" dirty="0"/>
              <a:t> </a:t>
            </a:r>
            <a:r>
              <a:rPr spc="-50" dirty="0"/>
              <a:t>organized</a:t>
            </a:r>
            <a:r>
              <a:rPr spc="-170" dirty="0"/>
              <a:t> </a:t>
            </a:r>
            <a:r>
              <a:rPr dirty="0"/>
              <a:t>and</a:t>
            </a:r>
            <a:r>
              <a:rPr spc="-165" dirty="0"/>
              <a:t> </a:t>
            </a:r>
            <a:r>
              <a:rPr spc="-25" dirty="0"/>
              <a:t>efficient </a:t>
            </a:r>
            <a:r>
              <a:rPr spc="-20" dirty="0"/>
              <a:t>way.</a:t>
            </a:r>
          </a:p>
          <a:p>
            <a:pPr marL="298450" marR="5080" indent="-286385">
              <a:lnSpc>
                <a:spcPts val="2100"/>
              </a:lnSpc>
              <a:spcBef>
                <a:spcPts val="135"/>
              </a:spcBef>
              <a:buFont typeface="Wingdings"/>
              <a:buChar char=""/>
              <a:tabLst>
                <a:tab pos="298450" algn="l"/>
              </a:tabLst>
            </a:pPr>
            <a:r>
              <a:rPr spc="-80" dirty="0"/>
              <a:t>The</a:t>
            </a:r>
            <a:r>
              <a:rPr spc="-185" dirty="0"/>
              <a:t> </a:t>
            </a:r>
            <a:r>
              <a:rPr spc="-35" dirty="0"/>
              <a:t>application</a:t>
            </a:r>
            <a:r>
              <a:rPr spc="-145" dirty="0"/>
              <a:t> </a:t>
            </a:r>
            <a:r>
              <a:rPr spc="-10" dirty="0"/>
              <a:t>allows</a:t>
            </a:r>
            <a:r>
              <a:rPr spc="-190" dirty="0"/>
              <a:t> </a:t>
            </a:r>
            <a:r>
              <a:rPr dirty="0"/>
              <a:t>users</a:t>
            </a:r>
            <a:r>
              <a:rPr spc="-185" dirty="0"/>
              <a:t> </a:t>
            </a:r>
            <a:r>
              <a:rPr spc="-55" dirty="0"/>
              <a:t>to</a:t>
            </a:r>
            <a:r>
              <a:rPr spc="-150" dirty="0"/>
              <a:t> </a:t>
            </a:r>
            <a:r>
              <a:rPr spc="-55" dirty="0"/>
              <a:t>track</a:t>
            </a:r>
            <a:r>
              <a:rPr spc="-185" dirty="0"/>
              <a:t> </a:t>
            </a:r>
            <a:r>
              <a:rPr spc="-10" dirty="0"/>
              <a:t>income</a:t>
            </a:r>
            <a:r>
              <a:rPr spc="-100" dirty="0"/>
              <a:t> </a:t>
            </a:r>
            <a:r>
              <a:rPr dirty="0"/>
              <a:t>and</a:t>
            </a:r>
            <a:r>
              <a:rPr spc="-165" dirty="0"/>
              <a:t> </a:t>
            </a:r>
            <a:r>
              <a:rPr spc="-25" dirty="0"/>
              <a:t>expenses,</a:t>
            </a:r>
            <a:r>
              <a:rPr spc="-120" dirty="0"/>
              <a:t> </a:t>
            </a:r>
            <a:r>
              <a:rPr spc="-65" dirty="0"/>
              <a:t>giving</a:t>
            </a:r>
            <a:r>
              <a:rPr spc="-180" dirty="0"/>
              <a:t> </a:t>
            </a:r>
            <a:r>
              <a:rPr dirty="0"/>
              <a:t>a</a:t>
            </a:r>
            <a:r>
              <a:rPr spc="-110" dirty="0"/>
              <a:t> </a:t>
            </a:r>
            <a:r>
              <a:rPr spc="-45" dirty="0"/>
              <a:t>clear</a:t>
            </a:r>
            <a:r>
              <a:rPr spc="-130" dirty="0"/>
              <a:t> </a:t>
            </a:r>
            <a:r>
              <a:rPr spc="-20" dirty="0"/>
              <a:t>view </a:t>
            </a:r>
            <a:r>
              <a:rPr spc="-65" dirty="0"/>
              <a:t>of</a:t>
            </a:r>
            <a:r>
              <a:rPr spc="-165" dirty="0"/>
              <a:t> </a:t>
            </a:r>
            <a:r>
              <a:rPr spc="-75" dirty="0"/>
              <a:t>their</a:t>
            </a:r>
            <a:r>
              <a:rPr spc="-225" dirty="0"/>
              <a:t> </a:t>
            </a:r>
            <a:r>
              <a:rPr dirty="0"/>
              <a:t>spending</a:t>
            </a:r>
            <a:r>
              <a:rPr spc="-195" dirty="0"/>
              <a:t> </a:t>
            </a:r>
            <a:r>
              <a:rPr spc="-10" dirty="0"/>
              <a:t>patterns.</a:t>
            </a:r>
          </a:p>
          <a:p>
            <a:pPr marL="298450" marR="495300" indent="-286385">
              <a:lnSpc>
                <a:spcPts val="2180"/>
              </a:lnSpc>
              <a:spcBef>
                <a:spcPts val="20"/>
              </a:spcBef>
              <a:buFont typeface="Wingdings"/>
              <a:buChar char=""/>
              <a:tabLst>
                <a:tab pos="298450" algn="l"/>
              </a:tabLst>
            </a:pPr>
            <a:r>
              <a:rPr spc="-105" dirty="0"/>
              <a:t>It </a:t>
            </a:r>
            <a:r>
              <a:rPr dirty="0"/>
              <a:t>supports</a:t>
            </a:r>
            <a:r>
              <a:rPr spc="-175" dirty="0"/>
              <a:t> </a:t>
            </a:r>
            <a:r>
              <a:rPr spc="-35" dirty="0"/>
              <a:t>budget</a:t>
            </a:r>
            <a:r>
              <a:rPr spc="-185" dirty="0"/>
              <a:t> </a:t>
            </a:r>
            <a:r>
              <a:rPr spc="-30" dirty="0"/>
              <a:t>planning</a:t>
            </a:r>
            <a:r>
              <a:rPr spc="-95" dirty="0"/>
              <a:t> </a:t>
            </a:r>
            <a:r>
              <a:rPr dirty="0"/>
              <a:t>and</a:t>
            </a:r>
            <a:r>
              <a:rPr spc="-155" dirty="0"/>
              <a:t> </a:t>
            </a:r>
            <a:r>
              <a:rPr dirty="0"/>
              <a:t>savings</a:t>
            </a:r>
            <a:r>
              <a:rPr spc="-180" dirty="0"/>
              <a:t> </a:t>
            </a:r>
            <a:r>
              <a:rPr spc="-20" dirty="0"/>
              <a:t>goal</a:t>
            </a:r>
            <a:r>
              <a:rPr spc="-140" dirty="0"/>
              <a:t> </a:t>
            </a:r>
            <a:r>
              <a:rPr spc="-45" dirty="0"/>
              <a:t>management,</a:t>
            </a:r>
            <a:r>
              <a:rPr spc="-114" dirty="0"/>
              <a:t> </a:t>
            </a:r>
            <a:r>
              <a:rPr spc="-45" dirty="0"/>
              <a:t>helping</a:t>
            </a:r>
            <a:r>
              <a:rPr spc="-90" dirty="0"/>
              <a:t> </a:t>
            </a:r>
            <a:r>
              <a:rPr spc="-10" dirty="0"/>
              <a:t>users </a:t>
            </a:r>
            <a:r>
              <a:rPr spc="-35" dirty="0"/>
              <a:t>control</a:t>
            </a:r>
            <a:r>
              <a:rPr spc="-160" dirty="0"/>
              <a:t> </a:t>
            </a:r>
            <a:r>
              <a:rPr spc="-10" dirty="0"/>
              <a:t>expenses</a:t>
            </a:r>
            <a:r>
              <a:rPr spc="-120" dirty="0"/>
              <a:t> </a:t>
            </a:r>
            <a:r>
              <a:rPr dirty="0"/>
              <a:t>and</a:t>
            </a:r>
            <a:r>
              <a:rPr spc="-175" dirty="0"/>
              <a:t> </a:t>
            </a:r>
            <a:r>
              <a:rPr spc="-10" dirty="0"/>
              <a:t>save</a:t>
            </a:r>
            <a:r>
              <a:rPr spc="-114" dirty="0"/>
              <a:t> </a:t>
            </a:r>
            <a:r>
              <a:rPr spc="-10" dirty="0"/>
              <a:t>regularly.</a:t>
            </a:r>
          </a:p>
          <a:p>
            <a:pPr marL="298450" indent="-285750">
              <a:lnSpc>
                <a:spcPts val="2100"/>
              </a:lnSpc>
              <a:buFont typeface="Wingdings"/>
              <a:buChar char=""/>
              <a:tabLst>
                <a:tab pos="298450" algn="l"/>
              </a:tabLst>
            </a:pPr>
            <a:r>
              <a:rPr spc="-80" dirty="0"/>
              <a:t>The</a:t>
            </a:r>
            <a:r>
              <a:rPr spc="-150" dirty="0"/>
              <a:t> </a:t>
            </a:r>
            <a:r>
              <a:rPr spc="-10" dirty="0"/>
              <a:t>system</a:t>
            </a:r>
            <a:r>
              <a:rPr spc="-135" dirty="0"/>
              <a:t> </a:t>
            </a:r>
            <a:r>
              <a:rPr dirty="0"/>
              <a:t>also</a:t>
            </a:r>
            <a:r>
              <a:rPr spc="-110" dirty="0"/>
              <a:t> </a:t>
            </a:r>
            <a:r>
              <a:rPr spc="-30" dirty="0"/>
              <a:t>provides</a:t>
            </a:r>
            <a:r>
              <a:rPr spc="-155" dirty="0"/>
              <a:t> </a:t>
            </a:r>
            <a:r>
              <a:rPr spc="-25" dirty="0"/>
              <a:t>risk-</a:t>
            </a:r>
            <a:r>
              <a:rPr spc="-85" dirty="0"/>
              <a:t>free</a:t>
            </a:r>
            <a:r>
              <a:rPr spc="-150" dirty="0"/>
              <a:t> </a:t>
            </a:r>
            <a:r>
              <a:rPr spc="-45" dirty="0"/>
              <a:t>investment</a:t>
            </a:r>
            <a:r>
              <a:rPr spc="-160" dirty="0"/>
              <a:t> </a:t>
            </a:r>
            <a:r>
              <a:rPr spc="-60" dirty="0"/>
              <a:t>learning,</a:t>
            </a:r>
            <a:r>
              <a:rPr spc="-175" dirty="0"/>
              <a:t> </a:t>
            </a:r>
            <a:r>
              <a:rPr spc="-30" dirty="0"/>
              <a:t>enabling</a:t>
            </a:r>
            <a:r>
              <a:rPr spc="-145" dirty="0"/>
              <a:t> </a:t>
            </a:r>
            <a:r>
              <a:rPr dirty="0"/>
              <a:t>users</a:t>
            </a:r>
            <a:r>
              <a:rPr spc="-65" dirty="0"/>
              <a:t> </a:t>
            </a:r>
            <a:r>
              <a:rPr spc="-25" dirty="0"/>
              <a:t>to</a:t>
            </a:r>
          </a:p>
          <a:p>
            <a:pPr marL="298450">
              <a:lnSpc>
                <a:spcPts val="2130"/>
              </a:lnSpc>
              <a:spcBef>
                <a:spcPts val="15"/>
              </a:spcBef>
            </a:pPr>
            <a:r>
              <a:rPr spc="-20" dirty="0"/>
              <a:t>understand</a:t>
            </a:r>
            <a:r>
              <a:rPr spc="-130" dirty="0"/>
              <a:t> </a:t>
            </a:r>
            <a:r>
              <a:rPr dirty="0"/>
              <a:t>basic</a:t>
            </a:r>
            <a:r>
              <a:rPr spc="-150" dirty="0"/>
              <a:t> </a:t>
            </a:r>
            <a:r>
              <a:rPr spc="-50" dirty="0"/>
              <a:t>investment</a:t>
            </a:r>
            <a:r>
              <a:rPr spc="-65" dirty="0"/>
              <a:t> </a:t>
            </a:r>
            <a:r>
              <a:rPr dirty="0"/>
              <a:t>concepts</a:t>
            </a:r>
            <a:r>
              <a:rPr spc="-60" dirty="0"/>
              <a:t> </a:t>
            </a:r>
            <a:r>
              <a:rPr spc="-10" dirty="0"/>
              <a:t>safely.</a:t>
            </a:r>
          </a:p>
          <a:p>
            <a:pPr marL="298450" marR="153670" indent="-286385">
              <a:lnSpc>
                <a:spcPts val="2180"/>
              </a:lnSpc>
              <a:spcBef>
                <a:spcPts val="30"/>
              </a:spcBef>
              <a:buFont typeface="Wingdings"/>
              <a:buChar char=""/>
              <a:tabLst>
                <a:tab pos="298450" algn="l"/>
              </a:tabLst>
            </a:pPr>
            <a:r>
              <a:rPr spc="-70" dirty="0"/>
              <a:t>Overall,</a:t>
            </a:r>
            <a:r>
              <a:rPr spc="-114" dirty="0"/>
              <a:t> </a:t>
            </a:r>
            <a:r>
              <a:rPr spc="-25" dirty="0"/>
              <a:t>this</a:t>
            </a:r>
            <a:r>
              <a:rPr spc="-170" dirty="0"/>
              <a:t> </a:t>
            </a:r>
            <a:r>
              <a:rPr spc="-80" dirty="0"/>
              <a:t>project</a:t>
            </a:r>
            <a:r>
              <a:rPr spc="-100" dirty="0"/>
              <a:t> </a:t>
            </a:r>
            <a:r>
              <a:rPr dirty="0"/>
              <a:t>helps</a:t>
            </a:r>
            <a:r>
              <a:rPr spc="-175" dirty="0"/>
              <a:t> </a:t>
            </a:r>
            <a:r>
              <a:rPr dirty="0"/>
              <a:t>users</a:t>
            </a:r>
            <a:r>
              <a:rPr spc="-90" dirty="0"/>
              <a:t> </a:t>
            </a:r>
            <a:r>
              <a:rPr spc="-50" dirty="0"/>
              <a:t>analyze</a:t>
            </a:r>
            <a:r>
              <a:rPr spc="-175" dirty="0"/>
              <a:t> </a:t>
            </a:r>
            <a:r>
              <a:rPr spc="-75" dirty="0"/>
              <a:t>their</a:t>
            </a:r>
            <a:r>
              <a:rPr spc="-120" dirty="0"/>
              <a:t> </a:t>
            </a:r>
            <a:r>
              <a:rPr spc="-45" dirty="0"/>
              <a:t>financial</a:t>
            </a:r>
            <a:r>
              <a:rPr spc="-140" dirty="0"/>
              <a:t> </a:t>
            </a:r>
            <a:r>
              <a:rPr spc="-60" dirty="0"/>
              <a:t>activities</a:t>
            </a:r>
            <a:r>
              <a:rPr spc="-95" dirty="0"/>
              <a:t> </a:t>
            </a:r>
            <a:r>
              <a:rPr dirty="0"/>
              <a:t>and</a:t>
            </a:r>
            <a:r>
              <a:rPr spc="-155" dirty="0"/>
              <a:t> </a:t>
            </a:r>
            <a:r>
              <a:rPr spc="-10" dirty="0"/>
              <a:t>improve </a:t>
            </a:r>
            <a:r>
              <a:rPr spc="-90" dirty="0"/>
              <a:t>their</a:t>
            </a:r>
            <a:r>
              <a:rPr spc="-130" dirty="0"/>
              <a:t> </a:t>
            </a:r>
            <a:r>
              <a:rPr spc="-45" dirty="0"/>
              <a:t>financial</a:t>
            </a:r>
            <a:r>
              <a:rPr spc="-140" dirty="0"/>
              <a:t> </a:t>
            </a:r>
            <a:r>
              <a:rPr spc="-10" dirty="0"/>
              <a:t>health.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96485" y="894841"/>
            <a:ext cx="3399154" cy="762635"/>
            <a:chOff x="4396485" y="894841"/>
            <a:chExt cx="3399154" cy="762635"/>
          </a:xfrm>
        </p:grpSpPr>
        <p:sp>
          <p:nvSpPr>
            <p:cNvPr id="3" name="object 3"/>
            <p:cNvSpPr/>
            <p:nvPr/>
          </p:nvSpPr>
          <p:spPr>
            <a:xfrm>
              <a:off x="4402835" y="901179"/>
              <a:ext cx="3386454" cy="737235"/>
            </a:xfrm>
            <a:custGeom>
              <a:avLst/>
              <a:gdLst/>
              <a:ahLst/>
              <a:cxnLst/>
              <a:rect l="l" t="t" r="r" b="b"/>
              <a:pathLst>
                <a:path w="3386454" h="737235">
                  <a:moveTo>
                    <a:pt x="3386327" y="0"/>
                  </a:moveTo>
                  <a:lnTo>
                    <a:pt x="0" y="0"/>
                  </a:lnTo>
                  <a:lnTo>
                    <a:pt x="0" y="736993"/>
                  </a:lnTo>
                  <a:lnTo>
                    <a:pt x="3386327" y="736993"/>
                  </a:lnTo>
                  <a:lnTo>
                    <a:pt x="3386327" y="0"/>
                  </a:lnTo>
                  <a:close/>
                </a:path>
              </a:pathLst>
            </a:custGeom>
            <a:solidFill>
              <a:srgbClr val="C9ED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96485" y="894841"/>
              <a:ext cx="3399154" cy="762635"/>
            </a:xfrm>
            <a:custGeom>
              <a:avLst/>
              <a:gdLst/>
              <a:ahLst/>
              <a:cxnLst/>
              <a:rect l="l" t="t" r="r" b="b"/>
              <a:pathLst>
                <a:path w="3399154" h="762635">
                  <a:moveTo>
                    <a:pt x="6350" y="0"/>
                  </a:moveTo>
                  <a:lnTo>
                    <a:pt x="6350" y="762381"/>
                  </a:lnTo>
                </a:path>
                <a:path w="3399154" h="762635">
                  <a:moveTo>
                    <a:pt x="3392678" y="0"/>
                  </a:moveTo>
                  <a:lnTo>
                    <a:pt x="3392678" y="762381"/>
                  </a:lnTo>
                </a:path>
                <a:path w="3399154" h="762635">
                  <a:moveTo>
                    <a:pt x="0" y="6350"/>
                  </a:moveTo>
                  <a:lnTo>
                    <a:pt x="3399028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96485" y="1638172"/>
              <a:ext cx="3399154" cy="0"/>
            </a:xfrm>
            <a:custGeom>
              <a:avLst/>
              <a:gdLst/>
              <a:ahLst/>
              <a:cxnLst/>
              <a:rect l="l" t="t" r="r" b="b"/>
              <a:pathLst>
                <a:path w="3399154">
                  <a:moveTo>
                    <a:pt x="0" y="0"/>
                  </a:moveTo>
                  <a:lnTo>
                    <a:pt x="3399028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495547" y="906780"/>
            <a:ext cx="5200904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2748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latin typeface="Arial" pitchFamily="34" charset="0"/>
                <a:cs typeface="Arial" pitchFamily="34" charset="0"/>
              </a:rPr>
              <a:t>Technology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991158" y="2920873"/>
            <a:ext cx="3053715" cy="2614295"/>
            <a:chOff x="991158" y="2920873"/>
            <a:chExt cx="3053715" cy="2614295"/>
          </a:xfrm>
        </p:grpSpPr>
        <p:sp>
          <p:nvSpPr>
            <p:cNvPr id="8" name="object 8"/>
            <p:cNvSpPr/>
            <p:nvPr/>
          </p:nvSpPr>
          <p:spPr>
            <a:xfrm>
              <a:off x="1016558" y="2933573"/>
              <a:ext cx="3002915" cy="2576195"/>
            </a:xfrm>
            <a:custGeom>
              <a:avLst/>
              <a:gdLst/>
              <a:ahLst/>
              <a:cxnLst/>
              <a:rect l="l" t="t" r="r" b="b"/>
              <a:pathLst>
                <a:path w="3002915" h="2576195">
                  <a:moveTo>
                    <a:pt x="3002788" y="0"/>
                  </a:moveTo>
                  <a:lnTo>
                    <a:pt x="0" y="0"/>
                  </a:lnTo>
                  <a:lnTo>
                    <a:pt x="0" y="2576067"/>
                  </a:lnTo>
                  <a:lnTo>
                    <a:pt x="3002788" y="2576067"/>
                  </a:lnTo>
                  <a:lnTo>
                    <a:pt x="3002788" y="0"/>
                  </a:lnTo>
                  <a:close/>
                </a:path>
              </a:pathLst>
            </a:custGeom>
            <a:solidFill>
              <a:srgbClr val="C9ED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10208" y="2927223"/>
              <a:ext cx="3015615" cy="2601595"/>
            </a:xfrm>
            <a:custGeom>
              <a:avLst/>
              <a:gdLst/>
              <a:ahLst/>
              <a:cxnLst/>
              <a:rect l="l" t="t" r="r" b="b"/>
              <a:pathLst>
                <a:path w="3015615" h="2601595">
                  <a:moveTo>
                    <a:pt x="6350" y="0"/>
                  </a:moveTo>
                  <a:lnTo>
                    <a:pt x="6350" y="2601467"/>
                  </a:lnTo>
                </a:path>
                <a:path w="3015615" h="2601595">
                  <a:moveTo>
                    <a:pt x="3009087" y="0"/>
                  </a:moveTo>
                  <a:lnTo>
                    <a:pt x="3009087" y="2601467"/>
                  </a:lnTo>
                </a:path>
                <a:path w="3015615" h="2601595">
                  <a:moveTo>
                    <a:pt x="0" y="6350"/>
                  </a:moveTo>
                  <a:lnTo>
                    <a:pt x="3015437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10208" y="5509641"/>
              <a:ext cx="3015615" cy="0"/>
            </a:xfrm>
            <a:custGeom>
              <a:avLst/>
              <a:gdLst/>
              <a:ahLst/>
              <a:cxnLst/>
              <a:rect l="l" t="t" r="r" b="b"/>
              <a:pathLst>
                <a:path w="3015615">
                  <a:moveTo>
                    <a:pt x="0" y="0"/>
                  </a:moveTo>
                  <a:lnTo>
                    <a:pt x="3015437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22908" y="2961322"/>
            <a:ext cx="2990215" cy="16738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71475" marR="600075" indent="-286385">
              <a:lnSpc>
                <a:spcPct val="100800"/>
              </a:lnSpc>
              <a:spcBef>
                <a:spcPts val="85"/>
              </a:spcBef>
              <a:buFont typeface="Wingdings"/>
              <a:buChar char=""/>
              <a:tabLst>
                <a:tab pos="371475" algn="l"/>
              </a:tabLst>
            </a:pPr>
            <a:r>
              <a:rPr sz="1800" dirty="0">
                <a:latin typeface="Times New Roman"/>
                <a:cs typeface="Times New Roman"/>
              </a:rPr>
              <a:t>Core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logic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backend development</a:t>
            </a:r>
            <a:endParaRPr sz="1800">
              <a:latin typeface="Times New Roman"/>
              <a:cs typeface="Times New Roman"/>
            </a:endParaRPr>
          </a:p>
          <a:p>
            <a:pPr marL="371475" marR="944244" indent="-286385">
              <a:lnSpc>
                <a:spcPct val="100800"/>
              </a:lnSpc>
              <a:buFont typeface="Wingdings"/>
              <a:buChar char=""/>
              <a:tabLst>
                <a:tab pos="371475" algn="l"/>
                <a:tab pos="428625" algn="l"/>
              </a:tabLst>
            </a:pPr>
            <a:r>
              <a:rPr sz="1800" dirty="0">
                <a:latin typeface="Times New Roman"/>
                <a:cs typeface="Times New Roman"/>
              </a:rPr>
              <a:t>	Handles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financial calculations</a:t>
            </a:r>
            <a:endParaRPr sz="1800">
              <a:latin typeface="Times New Roman"/>
              <a:cs typeface="Times New Roman"/>
            </a:endParaRPr>
          </a:p>
          <a:p>
            <a:pPr marL="428625" indent="-342900">
              <a:lnSpc>
                <a:spcPts val="2105"/>
              </a:lnSpc>
              <a:buFont typeface="Wingdings"/>
              <a:buChar char=""/>
              <a:tabLst>
                <a:tab pos="428625" algn="l"/>
              </a:tabLst>
            </a:pPr>
            <a:r>
              <a:rPr sz="1800" dirty="0">
                <a:latin typeface="Times New Roman"/>
                <a:cs typeface="Times New Roman"/>
              </a:rPr>
              <a:t>Implements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  <a:p>
            <a:pPr marL="371475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latin typeface="Times New Roman"/>
                <a:cs typeface="Times New Roman"/>
              </a:rPr>
              <a:t>Structures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(Stack)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569205" y="2916173"/>
            <a:ext cx="3053715" cy="2614295"/>
            <a:chOff x="4569205" y="2916173"/>
            <a:chExt cx="3053715" cy="2614295"/>
          </a:xfrm>
        </p:grpSpPr>
        <p:sp>
          <p:nvSpPr>
            <p:cNvPr id="13" name="object 13"/>
            <p:cNvSpPr/>
            <p:nvPr/>
          </p:nvSpPr>
          <p:spPr>
            <a:xfrm>
              <a:off x="4594605" y="2928746"/>
              <a:ext cx="3002915" cy="2576195"/>
            </a:xfrm>
            <a:custGeom>
              <a:avLst/>
              <a:gdLst/>
              <a:ahLst/>
              <a:cxnLst/>
              <a:rect l="l" t="t" r="r" b="b"/>
              <a:pathLst>
                <a:path w="3002915" h="2576195">
                  <a:moveTo>
                    <a:pt x="3002788" y="0"/>
                  </a:moveTo>
                  <a:lnTo>
                    <a:pt x="0" y="0"/>
                  </a:lnTo>
                  <a:lnTo>
                    <a:pt x="0" y="2576067"/>
                  </a:lnTo>
                  <a:lnTo>
                    <a:pt x="3002788" y="2576067"/>
                  </a:lnTo>
                  <a:lnTo>
                    <a:pt x="3002788" y="0"/>
                  </a:lnTo>
                  <a:close/>
                </a:path>
              </a:pathLst>
            </a:custGeom>
            <a:solidFill>
              <a:srgbClr val="C9ED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88255" y="2922523"/>
              <a:ext cx="3015615" cy="2601595"/>
            </a:xfrm>
            <a:custGeom>
              <a:avLst/>
              <a:gdLst/>
              <a:ahLst/>
              <a:cxnLst/>
              <a:rect l="l" t="t" r="r" b="b"/>
              <a:pathLst>
                <a:path w="3015615" h="2601595">
                  <a:moveTo>
                    <a:pt x="6350" y="0"/>
                  </a:moveTo>
                  <a:lnTo>
                    <a:pt x="6350" y="2601341"/>
                  </a:lnTo>
                </a:path>
                <a:path w="3015615" h="2601595">
                  <a:moveTo>
                    <a:pt x="3009138" y="0"/>
                  </a:moveTo>
                  <a:lnTo>
                    <a:pt x="3009138" y="2601341"/>
                  </a:lnTo>
                </a:path>
                <a:path w="3015615" h="2601595">
                  <a:moveTo>
                    <a:pt x="0" y="6350"/>
                  </a:moveTo>
                  <a:lnTo>
                    <a:pt x="3015488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88255" y="5504814"/>
              <a:ext cx="3015615" cy="0"/>
            </a:xfrm>
            <a:custGeom>
              <a:avLst/>
              <a:gdLst/>
              <a:ahLst/>
              <a:cxnLst/>
              <a:rect l="l" t="t" r="r" b="b"/>
              <a:pathLst>
                <a:path w="3015615">
                  <a:moveTo>
                    <a:pt x="0" y="0"/>
                  </a:moveTo>
                  <a:lnTo>
                    <a:pt x="3015488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689728" y="2956623"/>
            <a:ext cx="18592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8511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85115" algn="l"/>
              </a:tabLst>
            </a:pPr>
            <a:r>
              <a:rPr sz="1800" dirty="0">
                <a:latin typeface="Times New Roman"/>
                <a:cs typeface="Times New Roman"/>
              </a:rPr>
              <a:t>Database</a:t>
            </a:r>
            <a:r>
              <a:rPr sz="1800" spc="-10" dirty="0">
                <a:latin typeface="Times New Roman"/>
                <a:cs typeface="Times New Roman"/>
              </a:rPr>
              <a:t> storage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89728" y="3509581"/>
            <a:ext cx="2281555" cy="5772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85750" marR="5080" indent="-285750">
              <a:lnSpc>
                <a:spcPct val="100800"/>
              </a:lnSpc>
              <a:spcBef>
                <a:spcPts val="85"/>
              </a:spcBef>
              <a:buFont typeface="Wingdings"/>
              <a:buChar char=""/>
              <a:tabLst>
                <a:tab pos="285750" algn="l"/>
                <a:tab pos="342265" algn="l"/>
              </a:tabLst>
            </a:pPr>
            <a:r>
              <a:rPr sz="1800" dirty="0">
                <a:latin typeface="Times New Roman"/>
                <a:cs typeface="Times New Roman"/>
              </a:rPr>
              <a:t>	Stores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user,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admin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&amp; </a:t>
            </a:r>
            <a:r>
              <a:rPr sz="1800" dirty="0">
                <a:latin typeface="Times New Roman"/>
                <a:cs typeface="Times New Roman"/>
              </a:rPr>
              <a:t>transaction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records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89728" y="4330128"/>
            <a:ext cx="2164715" cy="5765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85750" marR="5080" indent="-285750">
              <a:lnSpc>
                <a:spcPct val="100800"/>
              </a:lnSpc>
              <a:spcBef>
                <a:spcPts val="85"/>
              </a:spcBef>
              <a:buFont typeface="Wingdings"/>
              <a:buChar char=""/>
              <a:tabLst>
                <a:tab pos="285750" algn="l"/>
              </a:tabLst>
            </a:pPr>
            <a:r>
              <a:rPr sz="1800" dirty="0">
                <a:latin typeface="Times New Roman"/>
                <a:cs typeface="Times New Roman"/>
              </a:rPr>
              <a:t>Fast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10" dirty="0">
                <a:latin typeface="Times New Roman"/>
                <a:cs typeface="Times New Roman"/>
              </a:rPr>
              <a:t>lightweight </a:t>
            </a:r>
            <a:r>
              <a:rPr sz="1800" spc="-20" dirty="0">
                <a:latin typeface="Times New Roman"/>
                <a:cs typeface="Times New Roman"/>
              </a:rPr>
              <a:t>DBMS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147304" y="2920873"/>
            <a:ext cx="3053715" cy="2614295"/>
            <a:chOff x="8147304" y="2920873"/>
            <a:chExt cx="3053715" cy="2614295"/>
          </a:xfrm>
        </p:grpSpPr>
        <p:sp>
          <p:nvSpPr>
            <p:cNvPr id="20" name="object 20"/>
            <p:cNvSpPr/>
            <p:nvPr/>
          </p:nvSpPr>
          <p:spPr>
            <a:xfrm>
              <a:off x="8172704" y="2933573"/>
              <a:ext cx="3002915" cy="2576195"/>
            </a:xfrm>
            <a:custGeom>
              <a:avLst/>
              <a:gdLst/>
              <a:ahLst/>
              <a:cxnLst/>
              <a:rect l="l" t="t" r="r" b="b"/>
              <a:pathLst>
                <a:path w="3002915" h="2576195">
                  <a:moveTo>
                    <a:pt x="3002788" y="0"/>
                  </a:moveTo>
                  <a:lnTo>
                    <a:pt x="0" y="0"/>
                  </a:lnTo>
                  <a:lnTo>
                    <a:pt x="0" y="2576067"/>
                  </a:lnTo>
                  <a:lnTo>
                    <a:pt x="3002788" y="2576067"/>
                  </a:lnTo>
                  <a:lnTo>
                    <a:pt x="3002788" y="0"/>
                  </a:lnTo>
                  <a:close/>
                </a:path>
              </a:pathLst>
            </a:custGeom>
            <a:solidFill>
              <a:srgbClr val="C9ED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166354" y="2927223"/>
              <a:ext cx="3015615" cy="2601595"/>
            </a:xfrm>
            <a:custGeom>
              <a:avLst/>
              <a:gdLst/>
              <a:ahLst/>
              <a:cxnLst/>
              <a:rect l="l" t="t" r="r" b="b"/>
              <a:pathLst>
                <a:path w="3015615" h="2601595">
                  <a:moveTo>
                    <a:pt x="6350" y="0"/>
                  </a:moveTo>
                  <a:lnTo>
                    <a:pt x="6350" y="2601467"/>
                  </a:lnTo>
                </a:path>
                <a:path w="3015615" h="2601595">
                  <a:moveTo>
                    <a:pt x="3009138" y="0"/>
                  </a:moveTo>
                  <a:lnTo>
                    <a:pt x="3009138" y="2601467"/>
                  </a:lnTo>
                </a:path>
                <a:path w="3015615" h="2601595">
                  <a:moveTo>
                    <a:pt x="0" y="6350"/>
                  </a:moveTo>
                  <a:lnTo>
                    <a:pt x="3015488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166354" y="5509641"/>
              <a:ext cx="3015615" cy="0"/>
            </a:xfrm>
            <a:custGeom>
              <a:avLst/>
              <a:gdLst/>
              <a:ahLst/>
              <a:cxnLst/>
              <a:rect l="l" t="t" r="r" b="b"/>
              <a:pathLst>
                <a:path w="3015615">
                  <a:moveTo>
                    <a:pt x="0" y="0"/>
                  </a:moveTo>
                  <a:lnTo>
                    <a:pt x="3015488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179054" y="2961322"/>
            <a:ext cx="2990215" cy="19756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6555" indent="-28511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76555" algn="l"/>
              </a:tabLst>
            </a:pPr>
            <a:r>
              <a:rPr sz="1800" dirty="0">
                <a:latin typeface="Times New Roman"/>
                <a:cs typeface="Times New Roman"/>
              </a:rPr>
              <a:t>Streamlit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(UI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development)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Wingdings"/>
              <a:buChar char=""/>
            </a:pPr>
            <a:endParaRPr sz="1800" dirty="0">
              <a:latin typeface="Times New Roman"/>
              <a:cs typeface="Times New Roman"/>
            </a:endParaRPr>
          </a:p>
          <a:p>
            <a:pPr marL="377190" marR="909955" indent="-285750">
              <a:lnSpc>
                <a:spcPct val="100800"/>
              </a:lnSpc>
              <a:buFont typeface="Wingdings"/>
              <a:buChar char=""/>
              <a:tabLst>
                <a:tab pos="377190" algn="l"/>
                <a:tab pos="429895" algn="l"/>
              </a:tabLst>
            </a:pPr>
            <a:r>
              <a:rPr sz="1800" dirty="0">
                <a:latin typeface="Times New Roman"/>
                <a:cs typeface="Times New Roman"/>
              </a:rPr>
              <a:t>	VS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Code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(Coding environment)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Wingdings"/>
              <a:buChar char=""/>
            </a:pPr>
            <a:endParaRPr sz="1800" dirty="0">
              <a:latin typeface="Times New Roman"/>
              <a:cs typeface="Times New Roman"/>
            </a:endParaRPr>
          </a:p>
          <a:p>
            <a:pPr marL="377190" marR="670560" indent="-285750">
              <a:lnSpc>
                <a:spcPct val="100800"/>
              </a:lnSpc>
              <a:buFont typeface="Wingdings"/>
              <a:buChar char=""/>
              <a:tabLst>
                <a:tab pos="377190" algn="l"/>
              </a:tabLst>
            </a:pPr>
            <a:r>
              <a:rPr lang="en-US" dirty="0" err="1" smtClean="0">
                <a:latin typeface="Times New Roman"/>
                <a:cs typeface="Times New Roman"/>
              </a:rPr>
              <a:t>Plotly</a:t>
            </a:r>
            <a:r>
              <a:rPr sz="1800" spc="5" dirty="0" smtClean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(Charts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&amp; </a:t>
            </a:r>
            <a:r>
              <a:rPr sz="1800" spc="-10" dirty="0">
                <a:latin typeface="Times New Roman"/>
                <a:cs typeface="Times New Roman"/>
              </a:rPr>
              <a:t>analytics)</a:t>
            </a:r>
            <a:endParaRPr sz="1800" dirty="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287399" y="2282444"/>
            <a:ext cx="2461260" cy="618490"/>
            <a:chOff x="1287399" y="2282444"/>
            <a:chExt cx="2461260" cy="618490"/>
          </a:xfrm>
        </p:grpSpPr>
        <p:sp>
          <p:nvSpPr>
            <p:cNvPr id="25" name="object 25"/>
            <p:cNvSpPr/>
            <p:nvPr/>
          </p:nvSpPr>
          <p:spPr>
            <a:xfrm>
              <a:off x="1293749" y="2288755"/>
              <a:ext cx="2448560" cy="593725"/>
            </a:xfrm>
            <a:custGeom>
              <a:avLst/>
              <a:gdLst/>
              <a:ahLst/>
              <a:cxnLst/>
              <a:rect l="l" t="t" r="r" b="b"/>
              <a:pathLst>
                <a:path w="2448560" h="593725">
                  <a:moveTo>
                    <a:pt x="2448432" y="0"/>
                  </a:moveTo>
                  <a:lnTo>
                    <a:pt x="0" y="0"/>
                  </a:lnTo>
                  <a:lnTo>
                    <a:pt x="0" y="593128"/>
                  </a:lnTo>
                  <a:lnTo>
                    <a:pt x="2448432" y="593128"/>
                  </a:lnTo>
                  <a:lnTo>
                    <a:pt x="2448432" y="0"/>
                  </a:lnTo>
                  <a:close/>
                </a:path>
              </a:pathLst>
            </a:custGeom>
            <a:solidFill>
              <a:srgbClr val="C9ED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287399" y="2282444"/>
              <a:ext cx="2461260" cy="618490"/>
            </a:xfrm>
            <a:custGeom>
              <a:avLst/>
              <a:gdLst/>
              <a:ahLst/>
              <a:cxnLst/>
              <a:rect l="l" t="t" r="r" b="b"/>
              <a:pathLst>
                <a:path w="2461260" h="618489">
                  <a:moveTo>
                    <a:pt x="6350" y="0"/>
                  </a:moveTo>
                  <a:lnTo>
                    <a:pt x="6350" y="618489"/>
                  </a:lnTo>
                </a:path>
                <a:path w="2461260" h="618489">
                  <a:moveTo>
                    <a:pt x="2454783" y="0"/>
                  </a:moveTo>
                  <a:lnTo>
                    <a:pt x="2454783" y="618489"/>
                  </a:lnTo>
                </a:path>
                <a:path w="2461260" h="618489">
                  <a:moveTo>
                    <a:pt x="0" y="6350"/>
                  </a:moveTo>
                  <a:lnTo>
                    <a:pt x="2461133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87399" y="2881884"/>
              <a:ext cx="2461260" cy="0"/>
            </a:xfrm>
            <a:custGeom>
              <a:avLst/>
              <a:gdLst/>
              <a:ahLst/>
              <a:cxnLst/>
              <a:rect l="l" t="t" r="r" b="b"/>
              <a:pathLst>
                <a:path w="2461260">
                  <a:moveTo>
                    <a:pt x="0" y="0"/>
                  </a:moveTo>
                  <a:lnTo>
                    <a:pt x="2461133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300099" y="2315210"/>
            <a:ext cx="243586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674370">
              <a:lnSpc>
                <a:spcPct val="100000"/>
              </a:lnSpc>
              <a:spcBef>
                <a:spcPts val="130"/>
              </a:spcBef>
            </a:pPr>
            <a:r>
              <a:rPr sz="2750" b="1" spc="-10" dirty="0">
                <a:latin typeface="Times New Roman"/>
                <a:cs typeface="Times New Roman"/>
              </a:rPr>
              <a:t>Python</a:t>
            </a:r>
            <a:endParaRPr sz="275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865370" y="2282444"/>
            <a:ext cx="2461260" cy="618490"/>
            <a:chOff x="4865370" y="2282444"/>
            <a:chExt cx="2461260" cy="618490"/>
          </a:xfrm>
        </p:grpSpPr>
        <p:sp>
          <p:nvSpPr>
            <p:cNvPr id="30" name="object 30"/>
            <p:cNvSpPr/>
            <p:nvPr/>
          </p:nvSpPr>
          <p:spPr>
            <a:xfrm>
              <a:off x="4865370" y="2282444"/>
              <a:ext cx="2461260" cy="618490"/>
            </a:xfrm>
            <a:custGeom>
              <a:avLst/>
              <a:gdLst/>
              <a:ahLst/>
              <a:cxnLst/>
              <a:rect l="l" t="t" r="r" b="b"/>
              <a:pathLst>
                <a:path w="2461259" h="618489">
                  <a:moveTo>
                    <a:pt x="6350" y="0"/>
                  </a:moveTo>
                  <a:lnTo>
                    <a:pt x="6350" y="618489"/>
                  </a:lnTo>
                </a:path>
                <a:path w="2461259" h="618489">
                  <a:moveTo>
                    <a:pt x="2454909" y="0"/>
                  </a:moveTo>
                  <a:lnTo>
                    <a:pt x="2454909" y="618489"/>
                  </a:lnTo>
                </a:path>
                <a:path w="2461259" h="618489">
                  <a:moveTo>
                    <a:pt x="0" y="6350"/>
                  </a:moveTo>
                  <a:lnTo>
                    <a:pt x="2461259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865370" y="2881884"/>
              <a:ext cx="2461260" cy="0"/>
            </a:xfrm>
            <a:custGeom>
              <a:avLst/>
              <a:gdLst/>
              <a:ahLst/>
              <a:cxnLst/>
              <a:rect l="l" t="t" r="r" b="b"/>
              <a:pathLst>
                <a:path w="2461259">
                  <a:moveTo>
                    <a:pt x="0" y="0"/>
                  </a:moveTo>
                  <a:lnTo>
                    <a:pt x="2461259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871720" y="2288755"/>
            <a:ext cx="2448560" cy="593725"/>
          </a:xfrm>
          <a:prstGeom prst="rect">
            <a:avLst/>
          </a:prstGeom>
          <a:solidFill>
            <a:srgbClr val="C9EDFA"/>
          </a:solidFill>
        </p:spPr>
        <p:txBody>
          <a:bodyPr vert="horz" wrap="square" lIns="0" tIns="42545" rIns="0" bIns="0" rtlCol="0">
            <a:spAutoFit/>
          </a:bodyPr>
          <a:lstStyle/>
          <a:p>
            <a:pPr marL="685165">
              <a:lnSpc>
                <a:spcPct val="100000"/>
              </a:lnSpc>
              <a:spcBef>
                <a:spcPts val="335"/>
              </a:spcBef>
            </a:pPr>
            <a:r>
              <a:rPr sz="2750" b="1" spc="-10" dirty="0">
                <a:latin typeface="Times New Roman"/>
                <a:cs typeface="Times New Roman"/>
              </a:rPr>
              <a:t>SQLite</a:t>
            </a:r>
            <a:endParaRPr sz="275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443468" y="2282444"/>
            <a:ext cx="2461260" cy="618490"/>
            <a:chOff x="8443468" y="2282444"/>
            <a:chExt cx="2461260" cy="618490"/>
          </a:xfrm>
        </p:grpSpPr>
        <p:sp>
          <p:nvSpPr>
            <p:cNvPr id="34" name="object 34"/>
            <p:cNvSpPr/>
            <p:nvPr/>
          </p:nvSpPr>
          <p:spPr>
            <a:xfrm>
              <a:off x="8449818" y="2288755"/>
              <a:ext cx="2448560" cy="593725"/>
            </a:xfrm>
            <a:custGeom>
              <a:avLst/>
              <a:gdLst/>
              <a:ahLst/>
              <a:cxnLst/>
              <a:rect l="l" t="t" r="r" b="b"/>
              <a:pathLst>
                <a:path w="2448559" h="593725">
                  <a:moveTo>
                    <a:pt x="2448432" y="0"/>
                  </a:moveTo>
                  <a:lnTo>
                    <a:pt x="0" y="0"/>
                  </a:lnTo>
                  <a:lnTo>
                    <a:pt x="0" y="593128"/>
                  </a:lnTo>
                  <a:lnTo>
                    <a:pt x="2448432" y="593128"/>
                  </a:lnTo>
                  <a:lnTo>
                    <a:pt x="2448432" y="0"/>
                  </a:lnTo>
                  <a:close/>
                </a:path>
              </a:pathLst>
            </a:custGeom>
            <a:solidFill>
              <a:srgbClr val="C9ED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443468" y="2282444"/>
              <a:ext cx="2461260" cy="618490"/>
            </a:xfrm>
            <a:custGeom>
              <a:avLst/>
              <a:gdLst/>
              <a:ahLst/>
              <a:cxnLst/>
              <a:rect l="l" t="t" r="r" b="b"/>
              <a:pathLst>
                <a:path w="2461259" h="618489">
                  <a:moveTo>
                    <a:pt x="6350" y="0"/>
                  </a:moveTo>
                  <a:lnTo>
                    <a:pt x="6350" y="618489"/>
                  </a:lnTo>
                </a:path>
                <a:path w="2461259" h="618489">
                  <a:moveTo>
                    <a:pt x="2454782" y="0"/>
                  </a:moveTo>
                  <a:lnTo>
                    <a:pt x="2454782" y="618489"/>
                  </a:lnTo>
                </a:path>
                <a:path w="2461259" h="618489">
                  <a:moveTo>
                    <a:pt x="0" y="6350"/>
                  </a:moveTo>
                  <a:lnTo>
                    <a:pt x="2461132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443468" y="2881884"/>
              <a:ext cx="2461260" cy="0"/>
            </a:xfrm>
            <a:custGeom>
              <a:avLst/>
              <a:gdLst/>
              <a:ahLst/>
              <a:cxnLst/>
              <a:rect l="l" t="t" r="r" b="b"/>
              <a:pathLst>
                <a:path w="2461259">
                  <a:moveTo>
                    <a:pt x="0" y="0"/>
                  </a:moveTo>
                  <a:lnTo>
                    <a:pt x="2461132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8456168" y="2315210"/>
            <a:ext cx="243586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73050">
              <a:lnSpc>
                <a:spcPct val="100000"/>
              </a:lnSpc>
              <a:spcBef>
                <a:spcPts val="130"/>
              </a:spcBef>
            </a:pPr>
            <a:r>
              <a:rPr sz="2750" b="1" spc="-10" dirty="0">
                <a:latin typeface="Times New Roman"/>
                <a:cs typeface="Times New Roman"/>
              </a:rPr>
              <a:t>Tools</a:t>
            </a:r>
            <a:r>
              <a:rPr sz="2750" b="1" spc="-40" dirty="0">
                <a:latin typeface="Times New Roman"/>
                <a:cs typeface="Times New Roman"/>
              </a:rPr>
              <a:t> </a:t>
            </a:r>
            <a:r>
              <a:rPr sz="2750" b="1" dirty="0">
                <a:latin typeface="Times New Roman"/>
                <a:cs typeface="Times New Roman"/>
              </a:rPr>
              <a:t>&amp;</a:t>
            </a:r>
            <a:r>
              <a:rPr sz="2750" b="1" spc="-70" dirty="0">
                <a:latin typeface="Times New Roman"/>
                <a:cs typeface="Times New Roman"/>
              </a:rPr>
              <a:t> </a:t>
            </a:r>
            <a:r>
              <a:rPr sz="2750" b="1" spc="-25" dirty="0">
                <a:latin typeface="Times New Roman"/>
                <a:cs typeface="Times New Roman"/>
              </a:rPr>
              <a:t>IDE</a:t>
            </a:r>
            <a:endParaRPr sz="2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0397" y="2444114"/>
            <a:ext cx="5222240" cy="18935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70205" indent="-285115">
              <a:lnSpc>
                <a:spcPct val="100000"/>
              </a:lnSpc>
              <a:spcBef>
                <a:spcPts val="130"/>
              </a:spcBef>
              <a:buFont typeface="Wingdings"/>
              <a:buChar char=""/>
              <a:tabLst>
                <a:tab pos="370205" algn="l"/>
              </a:tabLst>
            </a:pPr>
            <a:r>
              <a:rPr sz="3200" b="1" spc="-10" dirty="0">
                <a:latin typeface="Times New Roman"/>
                <a:cs typeface="Times New Roman"/>
              </a:rPr>
              <a:t>Advantages</a:t>
            </a:r>
            <a:endParaRPr sz="3200" dirty="0">
              <a:latin typeface="Times New Roman"/>
              <a:cs typeface="Times New Roman"/>
            </a:endParaRPr>
          </a:p>
          <a:p>
            <a:pPr marL="371475" indent="-286385">
              <a:lnSpc>
                <a:spcPct val="100000"/>
              </a:lnSpc>
              <a:spcBef>
                <a:spcPts val="2140"/>
              </a:spcBef>
              <a:buFont typeface="Wingdings"/>
              <a:buChar char=""/>
              <a:tabLst>
                <a:tab pos="371475" algn="l"/>
              </a:tabLst>
            </a:pPr>
            <a:r>
              <a:rPr sz="1800" dirty="0">
                <a:latin typeface="Trebuchet MS"/>
                <a:cs typeface="Trebuchet MS"/>
              </a:rPr>
              <a:t>Easy</a:t>
            </a:r>
            <a:r>
              <a:rPr sz="1800" spc="-204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tracking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of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income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expenses</a:t>
            </a:r>
            <a:endParaRPr sz="1800" dirty="0">
              <a:latin typeface="Trebuchet MS"/>
              <a:cs typeface="Trebuchet MS"/>
            </a:endParaRPr>
          </a:p>
          <a:p>
            <a:pPr marL="371475" indent="-286385">
              <a:lnSpc>
                <a:spcPct val="100000"/>
              </a:lnSpc>
              <a:spcBef>
                <a:spcPts val="20"/>
              </a:spcBef>
              <a:buFont typeface="Wingdings"/>
              <a:buChar char=""/>
              <a:tabLst>
                <a:tab pos="371475" algn="l"/>
              </a:tabLst>
            </a:pPr>
            <a:r>
              <a:rPr sz="1800" dirty="0">
                <a:latin typeface="Trebuchet MS"/>
                <a:cs typeface="Trebuchet MS"/>
              </a:rPr>
              <a:t>Helps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control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budget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reduce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overspending</a:t>
            </a:r>
            <a:endParaRPr sz="1800" dirty="0">
              <a:latin typeface="Trebuchet MS"/>
              <a:cs typeface="Trebuchet MS"/>
            </a:endParaRPr>
          </a:p>
          <a:p>
            <a:pPr marL="371475" indent="-286385">
              <a:lnSpc>
                <a:spcPct val="100000"/>
              </a:lnSpc>
              <a:spcBef>
                <a:spcPts val="15"/>
              </a:spcBef>
              <a:buFont typeface="Wingdings"/>
              <a:buChar char=""/>
              <a:tabLst>
                <a:tab pos="371475" algn="l"/>
              </a:tabLst>
            </a:pPr>
            <a:r>
              <a:rPr sz="1800" spc="-25" dirty="0">
                <a:latin typeface="Trebuchet MS"/>
                <a:cs typeface="Trebuchet MS"/>
              </a:rPr>
              <a:t>User-</a:t>
            </a:r>
            <a:r>
              <a:rPr sz="1800" spc="-75" dirty="0">
                <a:latin typeface="Trebuchet MS"/>
                <a:cs typeface="Trebuchet MS"/>
              </a:rPr>
              <a:t>friendly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simple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to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use</a:t>
            </a:r>
            <a:endParaRPr sz="1800" dirty="0">
              <a:latin typeface="Trebuchet MS"/>
              <a:cs typeface="Trebuchet MS"/>
            </a:endParaRPr>
          </a:p>
          <a:p>
            <a:pPr marL="371475" indent="-286385">
              <a:lnSpc>
                <a:spcPct val="100000"/>
              </a:lnSpc>
              <a:spcBef>
                <a:spcPts val="20"/>
              </a:spcBef>
              <a:buFont typeface="Wingdings"/>
              <a:buChar char=""/>
              <a:tabLst>
                <a:tab pos="371475" algn="l"/>
              </a:tabLst>
            </a:pPr>
            <a:r>
              <a:rPr sz="1800" dirty="0">
                <a:latin typeface="Trebuchet MS"/>
                <a:cs typeface="Trebuchet MS"/>
              </a:rPr>
              <a:t>Secure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handling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of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financial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data</a:t>
            </a:r>
            <a:endParaRPr sz="1800" dirty="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276847" y="2420492"/>
            <a:ext cx="5248275" cy="2338070"/>
            <a:chOff x="6276847" y="2420492"/>
            <a:chExt cx="5248275" cy="2338070"/>
          </a:xfrm>
        </p:grpSpPr>
        <p:sp>
          <p:nvSpPr>
            <p:cNvPr id="4" name="object 4"/>
            <p:cNvSpPr/>
            <p:nvPr/>
          </p:nvSpPr>
          <p:spPr>
            <a:xfrm>
              <a:off x="6283197" y="2426842"/>
              <a:ext cx="5234940" cy="2312670"/>
            </a:xfrm>
            <a:custGeom>
              <a:avLst/>
              <a:gdLst/>
              <a:ahLst/>
              <a:cxnLst/>
              <a:rect l="l" t="t" r="r" b="b"/>
              <a:pathLst>
                <a:path w="5234940" h="2312670">
                  <a:moveTo>
                    <a:pt x="5234940" y="0"/>
                  </a:moveTo>
                  <a:lnTo>
                    <a:pt x="0" y="0"/>
                  </a:lnTo>
                  <a:lnTo>
                    <a:pt x="0" y="2312288"/>
                  </a:lnTo>
                  <a:lnTo>
                    <a:pt x="5234940" y="2312288"/>
                  </a:lnTo>
                  <a:lnTo>
                    <a:pt x="5234940" y="0"/>
                  </a:lnTo>
                  <a:close/>
                </a:path>
              </a:pathLst>
            </a:custGeom>
            <a:solidFill>
              <a:srgbClr val="C9ED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76847" y="2420492"/>
              <a:ext cx="5248275" cy="2338070"/>
            </a:xfrm>
            <a:custGeom>
              <a:avLst/>
              <a:gdLst/>
              <a:ahLst/>
              <a:cxnLst/>
              <a:rect l="l" t="t" r="r" b="b"/>
              <a:pathLst>
                <a:path w="5248275" h="2338070">
                  <a:moveTo>
                    <a:pt x="6350" y="0"/>
                  </a:moveTo>
                  <a:lnTo>
                    <a:pt x="6350" y="2337689"/>
                  </a:lnTo>
                </a:path>
                <a:path w="5248275" h="2338070">
                  <a:moveTo>
                    <a:pt x="5241417" y="0"/>
                  </a:moveTo>
                  <a:lnTo>
                    <a:pt x="5241417" y="2337689"/>
                  </a:lnTo>
                </a:path>
                <a:path w="5248275" h="2338070">
                  <a:moveTo>
                    <a:pt x="0" y="6350"/>
                  </a:moveTo>
                  <a:lnTo>
                    <a:pt x="5247767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76847" y="4739132"/>
              <a:ext cx="5248275" cy="0"/>
            </a:xfrm>
            <a:custGeom>
              <a:avLst/>
              <a:gdLst/>
              <a:ahLst/>
              <a:cxnLst/>
              <a:rect l="l" t="t" r="r" b="b"/>
              <a:pathLst>
                <a:path w="5248275">
                  <a:moveTo>
                    <a:pt x="0" y="0"/>
                  </a:moveTo>
                  <a:lnTo>
                    <a:pt x="5247767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289547" y="2444114"/>
            <a:ext cx="5222875" cy="161710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74650" indent="-285115">
              <a:lnSpc>
                <a:spcPct val="100000"/>
              </a:lnSpc>
              <a:spcBef>
                <a:spcPts val="130"/>
              </a:spcBef>
              <a:buFont typeface="Wingdings"/>
              <a:buChar char=""/>
              <a:tabLst>
                <a:tab pos="374650" algn="l"/>
              </a:tabLst>
            </a:pPr>
            <a:r>
              <a:rPr sz="3200" b="1" spc="-10" dirty="0">
                <a:latin typeface="Times New Roman"/>
                <a:cs typeface="Times New Roman"/>
              </a:rPr>
              <a:t>Disadvantages</a:t>
            </a:r>
            <a:endParaRPr sz="3200" dirty="0">
              <a:latin typeface="Times New Roman"/>
              <a:cs typeface="Times New Roman"/>
            </a:endParaRPr>
          </a:p>
          <a:p>
            <a:pPr marL="375920" indent="-286385">
              <a:lnSpc>
                <a:spcPct val="100000"/>
              </a:lnSpc>
              <a:spcBef>
                <a:spcPts val="20"/>
              </a:spcBef>
              <a:buFont typeface="Wingdings"/>
              <a:buChar char=""/>
              <a:tabLst>
                <a:tab pos="375920" algn="l"/>
              </a:tabLst>
            </a:pPr>
            <a:endParaRPr lang="en-US" sz="1800" dirty="0" smtClean="0">
              <a:latin typeface="Trebuchet MS"/>
              <a:cs typeface="Trebuchet MS"/>
            </a:endParaRPr>
          </a:p>
          <a:p>
            <a:pPr marL="375920" indent="-286385">
              <a:lnSpc>
                <a:spcPct val="100000"/>
              </a:lnSpc>
              <a:spcBef>
                <a:spcPts val="20"/>
              </a:spcBef>
              <a:buFont typeface="Wingdings"/>
              <a:buChar char=""/>
              <a:tabLst>
                <a:tab pos="375920" algn="l"/>
              </a:tabLst>
            </a:pPr>
            <a:r>
              <a:rPr sz="1800" dirty="0" smtClean="0">
                <a:latin typeface="Trebuchet MS"/>
                <a:cs typeface="Trebuchet MS"/>
              </a:rPr>
              <a:t>Manual</a:t>
            </a:r>
            <a:r>
              <a:rPr sz="1800" spc="-125" dirty="0" smtClean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data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entry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may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cause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errors</a:t>
            </a:r>
            <a:endParaRPr sz="1800" dirty="0">
              <a:latin typeface="Trebuchet MS"/>
              <a:cs typeface="Trebuchet MS"/>
            </a:endParaRPr>
          </a:p>
          <a:p>
            <a:pPr marL="375920" indent="-286385">
              <a:lnSpc>
                <a:spcPct val="100000"/>
              </a:lnSpc>
              <a:spcBef>
                <a:spcPts val="15"/>
              </a:spcBef>
              <a:buFont typeface="Wingdings"/>
              <a:buChar char=""/>
              <a:tabLst>
                <a:tab pos="375920" algn="l"/>
              </a:tabLst>
            </a:pPr>
            <a:r>
              <a:rPr sz="1800" spc="70" dirty="0">
                <a:latin typeface="Trebuchet MS"/>
                <a:cs typeface="Trebuchet MS"/>
              </a:rPr>
              <a:t>No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real-</a:t>
            </a:r>
            <a:r>
              <a:rPr sz="1800" spc="-70" dirty="0">
                <a:latin typeface="Trebuchet MS"/>
                <a:cs typeface="Trebuchet MS"/>
              </a:rPr>
              <a:t>time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bank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integration</a:t>
            </a:r>
            <a:endParaRPr sz="1800" dirty="0">
              <a:latin typeface="Trebuchet MS"/>
              <a:cs typeface="Trebuchet MS"/>
            </a:endParaRPr>
          </a:p>
          <a:p>
            <a:pPr marL="375920" indent="-286385">
              <a:lnSpc>
                <a:spcPct val="100000"/>
              </a:lnSpc>
              <a:spcBef>
                <a:spcPts val="20"/>
              </a:spcBef>
              <a:buFont typeface="Wingdings"/>
              <a:buChar char=""/>
              <a:tabLst>
                <a:tab pos="375920" algn="l"/>
              </a:tabLst>
            </a:pPr>
            <a:r>
              <a:rPr sz="1800" spc="-60" dirty="0">
                <a:latin typeface="Trebuchet MS"/>
                <a:cs typeface="Trebuchet MS"/>
              </a:rPr>
              <a:t>Limited</a:t>
            </a:r>
            <a:r>
              <a:rPr sz="1800" spc="-8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scalability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for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large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systems</a:t>
            </a:r>
            <a:endParaRPr sz="1800" dirty="0">
              <a:latin typeface="Trebuchet MS"/>
              <a:cs typeface="Trebuchet MS"/>
            </a:endParaRPr>
          </a:p>
        </p:txBody>
      </p:sp>
      <p:grpSp>
        <p:nvGrpSpPr>
          <p:cNvPr id="12" name="object 2"/>
          <p:cNvGrpSpPr/>
          <p:nvPr/>
        </p:nvGrpSpPr>
        <p:grpSpPr>
          <a:xfrm>
            <a:off x="2590800" y="1284224"/>
            <a:ext cx="6629400" cy="762635"/>
            <a:chOff x="3483102" y="1284224"/>
            <a:chExt cx="5226050" cy="762635"/>
          </a:xfrm>
        </p:grpSpPr>
        <p:sp>
          <p:nvSpPr>
            <p:cNvPr id="13" name="object 3"/>
            <p:cNvSpPr/>
            <p:nvPr/>
          </p:nvSpPr>
          <p:spPr>
            <a:xfrm>
              <a:off x="3489452" y="1290561"/>
              <a:ext cx="5213351" cy="737235"/>
            </a:xfrm>
            <a:custGeom>
              <a:avLst/>
              <a:gdLst/>
              <a:ahLst/>
              <a:cxnLst/>
              <a:rect l="l" t="t" r="r" b="b"/>
              <a:pathLst>
                <a:path w="5213350" h="737235">
                  <a:moveTo>
                    <a:pt x="5212969" y="0"/>
                  </a:moveTo>
                  <a:lnTo>
                    <a:pt x="0" y="0"/>
                  </a:lnTo>
                  <a:lnTo>
                    <a:pt x="0" y="736993"/>
                  </a:lnTo>
                  <a:lnTo>
                    <a:pt x="5212969" y="736993"/>
                  </a:lnTo>
                  <a:lnTo>
                    <a:pt x="5212969" y="0"/>
                  </a:lnTo>
                  <a:close/>
                </a:path>
              </a:pathLst>
            </a:custGeom>
            <a:solidFill>
              <a:srgbClr val="C9EDFA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3600" b="1" dirty="0" smtClean="0">
                  <a:latin typeface="Arial" pitchFamily="34" charset="0"/>
                  <a:cs typeface="Arial" pitchFamily="34" charset="0"/>
                </a:rPr>
                <a:t>Advantage &amp; Disadvantages</a:t>
              </a:r>
              <a:endParaRPr sz="36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object 4"/>
            <p:cNvSpPr/>
            <p:nvPr/>
          </p:nvSpPr>
          <p:spPr>
            <a:xfrm>
              <a:off x="3483102" y="1284224"/>
              <a:ext cx="5226050" cy="762635"/>
            </a:xfrm>
            <a:custGeom>
              <a:avLst/>
              <a:gdLst/>
              <a:ahLst/>
              <a:cxnLst/>
              <a:rect l="l" t="t" r="r" b="b"/>
              <a:pathLst>
                <a:path w="5226050" h="762635">
                  <a:moveTo>
                    <a:pt x="6350" y="0"/>
                  </a:moveTo>
                  <a:lnTo>
                    <a:pt x="6350" y="762380"/>
                  </a:lnTo>
                </a:path>
                <a:path w="5226050" h="762635">
                  <a:moveTo>
                    <a:pt x="5219446" y="0"/>
                  </a:moveTo>
                  <a:lnTo>
                    <a:pt x="5219446" y="762380"/>
                  </a:lnTo>
                </a:path>
                <a:path w="5226050" h="762635">
                  <a:moveTo>
                    <a:pt x="0" y="6350"/>
                  </a:moveTo>
                  <a:lnTo>
                    <a:pt x="5225796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5"/>
            <p:cNvSpPr/>
            <p:nvPr/>
          </p:nvSpPr>
          <p:spPr>
            <a:xfrm>
              <a:off x="3483102" y="2027555"/>
              <a:ext cx="5226050" cy="0"/>
            </a:xfrm>
            <a:custGeom>
              <a:avLst/>
              <a:gdLst/>
              <a:ahLst/>
              <a:cxnLst/>
              <a:rect l="l" t="t" r="r" b="b"/>
              <a:pathLst>
                <a:path w="5226050">
                  <a:moveTo>
                    <a:pt x="0" y="0"/>
                  </a:moveTo>
                  <a:lnTo>
                    <a:pt x="5225796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19220" y="898652"/>
            <a:ext cx="4353560" cy="762635"/>
            <a:chOff x="3919220" y="898652"/>
            <a:chExt cx="4353560" cy="762635"/>
          </a:xfrm>
        </p:grpSpPr>
        <p:sp>
          <p:nvSpPr>
            <p:cNvPr id="3" name="object 3"/>
            <p:cNvSpPr/>
            <p:nvPr/>
          </p:nvSpPr>
          <p:spPr>
            <a:xfrm>
              <a:off x="3925570" y="904989"/>
              <a:ext cx="4340860" cy="737235"/>
            </a:xfrm>
            <a:custGeom>
              <a:avLst/>
              <a:gdLst/>
              <a:ahLst/>
              <a:cxnLst/>
              <a:rect l="l" t="t" r="r" b="b"/>
              <a:pathLst>
                <a:path w="4340859" h="737235">
                  <a:moveTo>
                    <a:pt x="4340860" y="0"/>
                  </a:moveTo>
                  <a:lnTo>
                    <a:pt x="0" y="0"/>
                  </a:lnTo>
                  <a:lnTo>
                    <a:pt x="0" y="736993"/>
                  </a:lnTo>
                  <a:lnTo>
                    <a:pt x="4340860" y="736993"/>
                  </a:lnTo>
                  <a:lnTo>
                    <a:pt x="4340860" y="0"/>
                  </a:lnTo>
                  <a:close/>
                </a:path>
              </a:pathLst>
            </a:custGeom>
            <a:solidFill>
              <a:srgbClr val="C9ED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919220" y="898652"/>
              <a:ext cx="4353560" cy="762635"/>
            </a:xfrm>
            <a:custGeom>
              <a:avLst/>
              <a:gdLst/>
              <a:ahLst/>
              <a:cxnLst/>
              <a:rect l="l" t="t" r="r" b="b"/>
              <a:pathLst>
                <a:path w="4353559" h="762635">
                  <a:moveTo>
                    <a:pt x="6350" y="0"/>
                  </a:moveTo>
                  <a:lnTo>
                    <a:pt x="6350" y="762381"/>
                  </a:lnTo>
                </a:path>
                <a:path w="4353559" h="762635">
                  <a:moveTo>
                    <a:pt x="4347209" y="0"/>
                  </a:moveTo>
                  <a:lnTo>
                    <a:pt x="4347209" y="762381"/>
                  </a:lnTo>
                </a:path>
                <a:path w="4353559" h="762635">
                  <a:moveTo>
                    <a:pt x="0" y="6350"/>
                  </a:moveTo>
                  <a:lnTo>
                    <a:pt x="4353559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19220" y="1641983"/>
              <a:ext cx="4353560" cy="0"/>
            </a:xfrm>
            <a:custGeom>
              <a:avLst/>
              <a:gdLst/>
              <a:ahLst/>
              <a:cxnLst/>
              <a:rect l="l" t="t" r="r" b="b"/>
              <a:pathLst>
                <a:path w="4353559">
                  <a:moveTo>
                    <a:pt x="0" y="0"/>
                  </a:moveTo>
                  <a:lnTo>
                    <a:pt x="4353559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105"/>
              </a:spcBef>
            </a:pPr>
            <a:r>
              <a:rPr dirty="0"/>
              <a:t>Future</a:t>
            </a:r>
            <a:r>
              <a:rPr spc="10" dirty="0"/>
              <a:t> </a:t>
            </a:r>
            <a:r>
              <a:rPr spc="-10" dirty="0"/>
              <a:t>Scope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778889" y="2243455"/>
            <a:ext cx="3764279" cy="2557146"/>
            <a:chOff x="1778889" y="2243454"/>
            <a:chExt cx="3764279" cy="2718435"/>
          </a:xfrm>
        </p:grpSpPr>
        <p:sp>
          <p:nvSpPr>
            <p:cNvPr id="8" name="object 8"/>
            <p:cNvSpPr/>
            <p:nvPr/>
          </p:nvSpPr>
          <p:spPr>
            <a:xfrm>
              <a:off x="1785239" y="2249931"/>
              <a:ext cx="3751579" cy="2693035"/>
            </a:xfrm>
            <a:custGeom>
              <a:avLst/>
              <a:gdLst/>
              <a:ahLst/>
              <a:cxnLst/>
              <a:rect l="l" t="t" r="r" b="b"/>
              <a:pathLst>
                <a:path w="3751579" h="2693035">
                  <a:moveTo>
                    <a:pt x="3751326" y="0"/>
                  </a:moveTo>
                  <a:lnTo>
                    <a:pt x="0" y="0"/>
                  </a:lnTo>
                  <a:lnTo>
                    <a:pt x="0" y="2692908"/>
                  </a:lnTo>
                  <a:lnTo>
                    <a:pt x="3751326" y="2692908"/>
                  </a:lnTo>
                  <a:lnTo>
                    <a:pt x="3751326" y="0"/>
                  </a:lnTo>
                  <a:close/>
                </a:path>
              </a:pathLst>
            </a:custGeom>
            <a:solidFill>
              <a:srgbClr val="C9ED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78889" y="2243454"/>
              <a:ext cx="3764279" cy="2718435"/>
            </a:xfrm>
            <a:custGeom>
              <a:avLst/>
              <a:gdLst/>
              <a:ahLst/>
              <a:cxnLst/>
              <a:rect l="l" t="t" r="r" b="b"/>
              <a:pathLst>
                <a:path w="3764279" h="2718435">
                  <a:moveTo>
                    <a:pt x="6350" y="0"/>
                  </a:moveTo>
                  <a:lnTo>
                    <a:pt x="6350" y="2718435"/>
                  </a:lnTo>
                </a:path>
                <a:path w="3764279" h="2718435">
                  <a:moveTo>
                    <a:pt x="3757803" y="0"/>
                  </a:moveTo>
                  <a:lnTo>
                    <a:pt x="3757803" y="2718435"/>
                  </a:lnTo>
                </a:path>
                <a:path w="3764279" h="2718435">
                  <a:moveTo>
                    <a:pt x="0" y="6350"/>
                  </a:moveTo>
                  <a:lnTo>
                    <a:pt x="3764153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78889" y="4942839"/>
              <a:ext cx="3764279" cy="0"/>
            </a:xfrm>
            <a:custGeom>
              <a:avLst/>
              <a:gdLst/>
              <a:ahLst/>
              <a:cxnLst/>
              <a:rect l="l" t="t" r="r" b="b"/>
              <a:pathLst>
                <a:path w="3764279">
                  <a:moveTo>
                    <a:pt x="0" y="0"/>
                  </a:moveTo>
                  <a:lnTo>
                    <a:pt x="3764153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791589" y="2276411"/>
            <a:ext cx="3738879" cy="19902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110" indent="-28575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72110" algn="l"/>
              </a:tabLst>
            </a:pPr>
            <a:r>
              <a:rPr sz="1800" dirty="0">
                <a:latin typeface="Times New Roman"/>
                <a:cs typeface="Times New Roman"/>
              </a:rPr>
              <a:t>Mobile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application </a:t>
            </a:r>
            <a:r>
              <a:rPr sz="1800" spc="-10" dirty="0">
                <a:latin typeface="Times New Roman"/>
                <a:cs typeface="Times New Roman"/>
              </a:rPr>
              <a:t>version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Wingdings"/>
              <a:buChar char=""/>
            </a:pPr>
            <a:endParaRPr sz="1800" dirty="0">
              <a:latin typeface="Times New Roman"/>
              <a:cs typeface="Times New Roman"/>
            </a:endParaRPr>
          </a:p>
          <a:p>
            <a:pPr marL="429259" indent="-342900">
              <a:lnSpc>
                <a:spcPct val="100000"/>
              </a:lnSpc>
              <a:buFont typeface="Wingdings"/>
              <a:buChar char=""/>
              <a:tabLst>
                <a:tab pos="429259" algn="l"/>
              </a:tabLst>
            </a:pPr>
            <a:r>
              <a:rPr sz="1800" spc="-10" dirty="0">
                <a:latin typeface="Times New Roman"/>
                <a:cs typeface="Times New Roman"/>
              </a:rPr>
              <a:t>Cloud-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database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integration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Wingdings"/>
              <a:buChar char=""/>
            </a:pPr>
            <a:endParaRPr sz="1800" dirty="0">
              <a:latin typeface="Times New Roman"/>
              <a:cs typeface="Times New Roman"/>
            </a:endParaRPr>
          </a:p>
          <a:p>
            <a:pPr marL="416559" indent="-330200">
              <a:lnSpc>
                <a:spcPct val="100000"/>
              </a:lnSpc>
              <a:buFont typeface="Wingdings"/>
              <a:buChar char=""/>
              <a:tabLst>
                <a:tab pos="416559" algn="l"/>
              </a:tabLst>
            </a:pPr>
            <a:r>
              <a:rPr sz="1800" dirty="0">
                <a:latin typeface="Times New Roman"/>
                <a:cs typeface="Times New Roman"/>
              </a:rPr>
              <a:t>Advanced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analytics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reports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Wingdings"/>
              <a:buChar char=""/>
            </a:pPr>
            <a:endParaRPr sz="1800" dirty="0">
              <a:latin typeface="Times New Roman"/>
              <a:cs typeface="Times New Roman"/>
            </a:endParaRPr>
          </a:p>
          <a:p>
            <a:pPr marL="429259" indent="-342900">
              <a:lnSpc>
                <a:spcPct val="100000"/>
              </a:lnSpc>
              <a:buFont typeface="Wingdings"/>
              <a:buChar char=""/>
              <a:tabLst>
                <a:tab pos="429259" algn="l"/>
              </a:tabLst>
            </a:pPr>
            <a:r>
              <a:rPr sz="1800" spc="-10" dirty="0">
                <a:latin typeface="Times New Roman"/>
                <a:cs typeface="Times New Roman"/>
              </a:rPr>
              <a:t>Multi-</a:t>
            </a:r>
            <a:r>
              <a:rPr sz="1800" dirty="0">
                <a:latin typeface="Times New Roman"/>
                <a:cs typeface="Times New Roman"/>
              </a:rPr>
              <a:t>user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collaboration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 smtClean="0">
                <a:latin typeface="Times New Roman"/>
                <a:cs typeface="Times New Roman"/>
              </a:rPr>
              <a:t>features</a:t>
            </a:r>
            <a:endParaRPr sz="1800" dirty="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7975" y="2247900"/>
            <a:ext cx="3752850" cy="25526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99663" y="3007995"/>
            <a:ext cx="5393055" cy="854710"/>
            <a:chOff x="3399663" y="3007995"/>
            <a:chExt cx="5393055" cy="854710"/>
          </a:xfrm>
        </p:grpSpPr>
        <p:sp>
          <p:nvSpPr>
            <p:cNvPr id="3" name="object 3"/>
            <p:cNvSpPr/>
            <p:nvPr/>
          </p:nvSpPr>
          <p:spPr>
            <a:xfrm>
              <a:off x="3406013" y="3014319"/>
              <a:ext cx="5380355" cy="829944"/>
            </a:xfrm>
            <a:custGeom>
              <a:avLst/>
              <a:gdLst/>
              <a:ahLst/>
              <a:cxnLst/>
              <a:rect l="l" t="t" r="r" b="b"/>
              <a:pathLst>
                <a:path w="5380355" h="829945">
                  <a:moveTo>
                    <a:pt x="5380100" y="0"/>
                  </a:moveTo>
                  <a:lnTo>
                    <a:pt x="0" y="0"/>
                  </a:lnTo>
                  <a:lnTo>
                    <a:pt x="0" y="829335"/>
                  </a:lnTo>
                  <a:lnTo>
                    <a:pt x="5380100" y="829335"/>
                  </a:lnTo>
                  <a:lnTo>
                    <a:pt x="5380100" y="0"/>
                  </a:lnTo>
                  <a:close/>
                </a:path>
              </a:pathLst>
            </a:custGeom>
            <a:solidFill>
              <a:srgbClr val="C9ED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399663" y="3007995"/>
              <a:ext cx="5393055" cy="854710"/>
            </a:xfrm>
            <a:custGeom>
              <a:avLst/>
              <a:gdLst/>
              <a:ahLst/>
              <a:cxnLst/>
              <a:rect l="l" t="t" r="r" b="b"/>
              <a:pathLst>
                <a:path w="5393055" h="854710">
                  <a:moveTo>
                    <a:pt x="6350" y="0"/>
                  </a:moveTo>
                  <a:lnTo>
                    <a:pt x="6350" y="854709"/>
                  </a:lnTo>
                </a:path>
                <a:path w="5393055" h="854710">
                  <a:moveTo>
                    <a:pt x="5386323" y="0"/>
                  </a:moveTo>
                  <a:lnTo>
                    <a:pt x="5386323" y="854709"/>
                  </a:lnTo>
                </a:path>
                <a:path w="5393055" h="854710">
                  <a:moveTo>
                    <a:pt x="0" y="6350"/>
                  </a:moveTo>
                  <a:lnTo>
                    <a:pt x="5392673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99663" y="3843655"/>
              <a:ext cx="5393055" cy="0"/>
            </a:xfrm>
            <a:custGeom>
              <a:avLst/>
              <a:gdLst/>
              <a:ahLst/>
              <a:cxnLst/>
              <a:rect l="l" t="t" r="r" b="b"/>
              <a:pathLst>
                <a:path w="5393055">
                  <a:moveTo>
                    <a:pt x="0" y="0"/>
                  </a:moveTo>
                  <a:lnTo>
                    <a:pt x="5392673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412363" y="3032760"/>
            <a:ext cx="536765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 algn="ctr">
              <a:lnSpc>
                <a:spcPct val="100000"/>
              </a:lnSpc>
              <a:spcBef>
                <a:spcPts val="130"/>
              </a:spcBef>
            </a:pPr>
            <a:r>
              <a:rPr sz="4400" dirty="0"/>
              <a:t>THANK</a:t>
            </a:r>
            <a:r>
              <a:rPr sz="4400" spc="-220" dirty="0"/>
              <a:t> </a:t>
            </a:r>
            <a:r>
              <a:rPr sz="4400" spc="-20" dirty="0"/>
              <a:t>YOU!</a:t>
            </a:r>
            <a:endParaRPr sz="4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236</Words>
  <Application>Microsoft Office PowerPoint</Application>
  <PresentationFormat>Custom</PresentationFormat>
  <Paragraphs>50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Finance Tracker</vt:lpstr>
      <vt:lpstr>Introduction</vt:lpstr>
      <vt:lpstr>Technology</vt:lpstr>
      <vt:lpstr>Slide 4</vt:lpstr>
      <vt:lpstr>Future Scope</vt:lpstr>
      <vt:lpstr>THANK YOU!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Tracker</dc:title>
  <cp:lastModifiedBy>Dhyan</cp:lastModifiedBy>
  <cp:revision>5</cp:revision>
  <dcterms:created xsi:type="dcterms:W3CDTF">2026-02-20T03:04:57Z</dcterms:created>
  <dcterms:modified xsi:type="dcterms:W3CDTF">2026-02-20T04:06:58Z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2026-02-19T00:00:00Z</vt:filetime>
  </property>
  <property fmtid="{D5CDD505-2E9C-101B-9397-08002B2CF9AE}" pid="3" name="LastSaved">
    <vt:filetime>2026-02-20T00:00:00Z</vt:filetime>
  </property>
</Properties>
</file>